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D8B96A2-3C30-4B28-BB31-7C91F461DA06}">
  <a:tblStyle styleId="{3D8B96A2-3C30-4B28-BB31-7C91F461DA0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6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SLIDES_API183033518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SLIDES_API183033518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SLIDES_API183033518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SLIDES_API183033518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SLIDES_API183033518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SLIDES_API183033518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SLIDES_API183033518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SLIDES_API183033518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SLIDES_API183033518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SLIDES_API183033518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SLIDES_API183033518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SLIDES_API183033518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SLIDES_API183033518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SLIDES_API183033518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SLIDES_API183033518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SLIDES_API183033518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SLIDES_API183033518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SLIDES_API183033518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20" Type="http://schemas.openxmlformats.org/officeDocument/2006/relationships/hyperlink" Target="https://redis.lightning.force.com/lightning/r/project_cloud__Project__c/a9SN100000G94Pl/view" TargetMode="External"/><Relationship Id="rId22" Type="http://schemas.openxmlformats.org/officeDocument/2006/relationships/hyperlink" Target="https://redis.lightning.force.com/lightning/r/project_cloud__Project__c/a9SN100000C8JeU/view" TargetMode="External"/><Relationship Id="rId21" Type="http://schemas.openxmlformats.org/officeDocument/2006/relationships/hyperlink" Target="https://redis.lightning.force.com/lightning/r/project_cloud__Project__c/a9SN100000HSMa9/view" TargetMode="External"/><Relationship Id="rId24" Type="http://schemas.openxmlformats.org/officeDocument/2006/relationships/hyperlink" Target="https://redis.lightning.force.com/lightning/r/project_cloud__Project__c/a9SN100000JIkMP/view" TargetMode="External"/><Relationship Id="rId23" Type="http://schemas.openxmlformats.org/officeDocument/2006/relationships/hyperlink" Target="https://redis.lightning.force.com/lightning/r/project_cloud__Project__c/a9SN100000JQygj/view" TargetMode="External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redis.lightning.force.com/lightning/r/project_cloud__Project__c/a9STl00000AUP85/view" TargetMode="External"/><Relationship Id="rId4" Type="http://schemas.openxmlformats.org/officeDocument/2006/relationships/hyperlink" Target="https://redis.lightning.force.com/lightning/r/project_cloud__Project__c/a9STl00000ADrDd/view" TargetMode="External"/><Relationship Id="rId9" Type="http://schemas.openxmlformats.org/officeDocument/2006/relationships/hyperlink" Target="https://redis.lightning.force.com/lightning/r/project_cloud__Project__c/a9STl000008UxKb/view" TargetMode="External"/><Relationship Id="rId26" Type="http://schemas.openxmlformats.org/officeDocument/2006/relationships/hyperlink" Target="https://redis.lightning.force.com/lightning/r/project_cloud__Project__c/a9SN100000HfkrV/view" TargetMode="External"/><Relationship Id="rId25" Type="http://schemas.openxmlformats.org/officeDocument/2006/relationships/hyperlink" Target="https://redis.lightning.force.com/lightning/r/project_cloud__Project__c/a9STl000009fVfN/view" TargetMode="External"/><Relationship Id="rId28" Type="http://schemas.openxmlformats.org/officeDocument/2006/relationships/hyperlink" Target="https://redis.lightning.force.com/lightning/r/project_cloud__Project__c/a9STl000008XW1J/view" TargetMode="External"/><Relationship Id="rId27" Type="http://schemas.openxmlformats.org/officeDocument/2006/relationships/hyperlink" Target="https://redis.lightning.force.com/lightning/r/project_cloud__Project__c/a9SN100000Iwcyb/view" TargetMode="External"/><Relationship Id="rId5" Type="http://schemas.openxmlformats.org/officeDocument/2006/relationships/hyperlink" Target="https://redis.lightning.force.com/lightning/r/project_cloud__Project__c/a9STl000008UV6b/view" TargetMode="External"/><Relationship Id="rId6" Type="http://schemas.openxmlformats.org/officeDocument/2006/relationships/hyperlink" Target="https://redis.lightning.force.com/lightning/r/project_cloud__Project__c/a9STl000009fWJh/view" TargetMode="External"/><Relationship Id="rId29" Type="http://schemas.openxmlformats.org/officeDocument/2006/relationships/hyperlink" Target="https://redis.lightning.force.com/lightning/r/project_cloud__Project__c/a9SN100000H2HhL/view" TargetMode="External"/><Relationship Id="rId7" Type="http://schemas.openxmlformats.org/officeDocument/2006/relationships/hyperlink" Target="https://redis.lightning.force.com/lightning/r/project_cloud__Project__c/a9STl000008yH4b/view" TargetMode="External"/><Relationship Id="rId8" Type="http://schemas.openxmlformats.org/officeDocument/2006/relationships/hyperlink" Target="https://redis.lightning.force.com/lightning/r/project_cloud__Project__c/a9STl00000A4w1F/view" TargetMode="External"/><Relationship Id="rId31" Type="http://schemas.openxmlformats.org/officeDocument/2006/relationships/hyperlink" Target="https://redis.lightning.force.com/lightning/r/project_cloud__Project__c/a9SN100000HATJt/view" TargetMode="External"/><Relationship Id="rId30" Type="http://schemas.openxmlformats.org/officeDocument/2006/relationships/hyperlink" Target="https://redis.lightning.force.com/lightning/r/project_cloud__Project__c/a9SN100000C8JGH/view" TargetMode="External"/><Relationship Id="rId11" Type="http://schemas.openxmlformats.org/officeDocument/2006/relationships/hyperlink" Target="https://redis.lightning.force.com/lightning/r/project_cloud__Project__c/a9SN100000H7aHt/view" TargetMode="External"/><Relationship Id="rId33" Type="http://schemas.openxmlformats.org/officeDocument/2006/relationships/image" Target="../media/image1.png"/><Relationship Id="rId10" Type="http://schemas.openxmlformats.org/officeDocument/2006/relationships/hyperlink" Target="https://redis.lightning.force.com/lightning/r/project_cloud__Project__c/a9SN100000JPcju/view" TargetMode="External"/><Relationship Id="rId32" Type="http://schemas.openxmlformats.org/officeDocument/2006/relationships/hyperlink" Target="https://redis.lightning.force.com/lightning/r/project_cloud__Project__c/a9SN100000D3xby/view" TargetMode="External"/><Relationship Id="rId13" Type="http://schemas.openxmlformats.org/officeDocument/2006/relationships/hyperlink" Target="https://redis.lightning.force.com/lightning/r/project_cloud__Project__c/a9SN100000J6PFJ/view" TargetMode="External"/><Relationship Id="rId12" Type="http://schemas.openxmlformats.org/officeDocument/2006/relationships/hyperlink" Target="https://redis.lightning.force.com/lightning/r/project_cloud__Project__c/a9STl000008s8SD/view" TargetMode="External"/><Relationship Id="rId15" Type="http://schemas.openxmlformats.org/officeDocument/2006/relationships/hyperlink" Target="https://redis.lightning.force.com/lightning/r/project_cloud__Project__c/a9STl000009eUyH/view" TargetMode="External"/><Relationship Id="rId14" Type="http://schemas.openxmlformats.org/officeDocument/2006/relationships/hyperlink" Target="https://redis.lightning.force.com/lightning/r/project_cloud__Project__c/a9SN100000ISPkH/view" TargetMode="External"/><Relationship Id="rId17" Type="http://schemas.openxmlformats.org/officeDocument/2006/relationships/hyperlink" Target="https://redis.lightning.force.com/lightning/r/project_cloud__Project__c/a9SN100000JJGan/view" TargetMode="External"/><Relationship Id="rId16" Type="http://schemas.openxmlformats.org/officeDocument/2006/relationships/hyperlink" Target="https://redis.lightning.force.com/lightning/r/project_cloud__Project__c/a9SN100000Iy68D/view" TargetMode="External"/><Relationship Id="rId19" Type="http://schemas.openxmlformats.org/officeDocument/2006/relationships/hyperlink" Target="https://redis.lightning.force.com/lightning/r/project_cloud__Project__c/a9SN100000HcMQj/view" TargetMode="External"/><Relationship Id="rId18" Type="http://schemas.openxmlformats.org/officeDocument/2006/relationships/hyperlink" Target="https://redis.lightning.force.com/lightning/r/project_cloud__Project__c/a9SN100000FSFI2/view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1954530"/>
            <a:ext cx="9144000" cy="25500"/>
          </a:xfrm>
          <a:prstGeom prst="rect">
            <a:avLst/>
          </a:prstGeom>
          <a:solidFill>
            <a:srgbClr val="FF44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/>
          <p:nvPr/>
        </p:nvSpPr>
        <p:spPr>
          <a:xfrm>
            <a:off x="0" y="3188970"/>
            <a:ext cx="9144000" cy="25500"/>
          </a:xfrm>
          <a:prstGeom prst="rect">
            <a:avLst/>
          </a:prstGeom>
          <a:solidFill>
            <a:srgbClr val="FF44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355600" y="2106930"/>
            <a:ext cx="711300" cy="711300"/>
          </a:xfrm>
          <a:prstGeom prst="rect">
            <a:avLst/>
          </a:prstGeom>
          <a:solidFill>
            <a:srgbClr val="FF44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FFFFF"/>
                </a:solidFill>
              </a:rPr>
              <a:t>PS</a:t>
            </a:r>
            <a:endParaRPr b="1" sz="2200">
              <a:solidFill>
                <a:srgbClr val="FFFFFF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1193800" y="2081530"/>
            <a:ext cx="75945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1A1A2E"/>
                </a:solidFill>
              </a:rPr>
              <a:t>PS Monthly Review</a:t>
            </a:r>
            <a:endParaRPr b="1" sz="2800">
              <a:solidFill>
                <a:srgbClr val="1A1A2E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1193800" y="2589530"/>
            <a:ext cx="7594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95959"/>
                </a:solidFill>
              </a:rPr>
              <a:t>Redis Professional Services  •  June 30, 2026</a:t>
            </a:r>
            <a:endParaRPr sz="1100">
              <a:solidFill>
                <a:srgbClr val="595959"/>
              </a:solidFill>
            </a:endParaRPr>
          </a:p>
        </p:txBody>
      </p:sp>
      <p:cxnSp>
        <p:nvCxnSpPr>
          <p:cNvPr id="59" name="Google Shape;59;p13"/>
          <p:cNvCxnSpPr/>
          <p:nvPr/>
        </p:nvCxnSpPr>
        <p:spPr>
          <a:xfrm>
            <a:off x="0" y="4864100"/>
            <a:ext cx="9144000" cy="0"/>
          </a:xfrm>
          <a:prstGeom prst="straightConnector1">
            <a:avLst/>
          </a:prstGeom>
          <a:noFill/>
          <a:ln cap="flat" cmpd="sng" w="6350">
            <a:solidFill>
              <a:srgbClr val="AAAAAA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0" name="Google Shape;6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450" y="4902200"/>
            <a:ext cx="635000" cy="19685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 txBox="1"/>
          <p:nvPr/>
        </p:nvSpPr>
        <p:spPr>
          <a:xfrm>
            <a:off x="7137400" y="4927600"/>
            <a:ext cx="16509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595959"/>
                </a:solidFill>
              </a:rPr>
              <a:t>Professional Services</a:t>
            </a:r>
            <a:endParaRPr sz="75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/>
        </p:nvSpPr>
        <p:spPr>
          <a:xfrm>
            <a:off x="355600" y="127000"/>
            <a:ext cx="84327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A1A2E"/>
                </a:solidFill>
              </a:rPr>
              <a:t>Active Projects Summary</a:t>
            </a:r>
            <a:endParaRPr b="1" sz="1800">
              <a:solidFill>
                <a:srgbClr val="1A1A2E"/>
              </a:solidFill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355600" y="558800"/>
            <a:ext cx="84327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595959"/>
                </a:solidFill>
              </a:rPr>
              <a:t>June 30, 2026</a:t>
            </a:r>
            <a:endParaRPr sz="900">
              <a:solidFill>
                <a:srgbClr val="595959"/>
              </a:solidFill>
            </a:endParaRPr>
          </a:p>
        </p:txBody>
      </p:sp>
      <p:sp>
        <p:nvSpPr>
          <p:cNvPr id="68" name="Google Shape;68;p14"/>
          <p:cNvSpPr/>
          <p:nvPr/>
        </p:nvSpPr>
        <p:spPr>
          <a:xfrm>
            <a:off x="0" y="787400"/>
            <a:ext cx="9144000" cy="25500"/>
          </a:xfrm>
          <a:prstGeom prst="rect">
            <a:avLst/>
          </a:prstGeom>
          <a:solidFill>
            <a:srgbClr val="FF44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4"/>
          <p:cNvSpPr/>
          <p:nvPr/>
        </p:nvSpPr>
        <p:spPr>
          <a:xfrm>
            <a:off x="355600" y="863600"/>
            <a:ext cx="1143000" cy="5079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4"/>
          <p:cNvSpPr txBox="1"/>
          <p:nvPr/>
        </p:nvSpPr>
        <p:spPr>
          <a:xfrm>
            <a:off x="355600" y="889000"/>
            <a:ext cx="11430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1565C0"/>
                </a:solidFill>
              </a:rPr>
              <a:t>219</a:t>
            </a:r>
            <a:endParaRPr b="1" sz="1500">
              <a:solidFill>
                <a:srgbClr val="1565C0"/>
              </a:solidFill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355600" y="1181100"/>
            <a:ext cx="1143000" cy="1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rgbClr val="595959"/>
                </a:solidFill>
              </a:rPr>
              <a:t>Total Open</a:t>
            </a:r>
            <a:endParaRPr sz="650">
              <a:solidFill>
                <a:srgbClr val="595959"/>
              </a:solidFill>
            </a:endParaRPr>
          </a:p>
        </p:txBody>
      </p:sp>
      <p:sp>
        <p:nvSpPr>
          <p:cNvPr id="72" name="Google Shape;72;p14"/>
          <p:cNvSpPr/>
          <p:nvPr/>
        </p:nvSpPr>
        <p:spPr>
          <a:xfrm>
            <a:off x="1562100" y="863600"/>
            <a:ext cx="1143000" cy="5079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4"/>
          <p:cNvSpPr txBox="1"/>
          <p:nvPr/>
        </p:nvSpPr>
        <p:spPr>
          <a:xfrm>
            <a:off x="1562100" y="889000"/>
            <a:ext cx="11430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4438"/>
                </a:solidFill>
              </a:rPr>
              <a:t>12</a:t>
            </a:r>
            <a:endParaRPr b="1" sz="1500">
              <a:solidFill>
                <a:srgbClr val="FF4438"/>
              </a:solidFill>
            </a:endParaRPr>
          </a:p>
        </p:txBody>
      </p:sp>
      <p:sp>
        <p:nvSpPr>
          <p:cNvPr id="74" name="Google Shape;74;p14"/>
          <p:cNvSpPr txBox="1"/>
          <p:nvPr/>
        </p:nvSpPr>
        <p:spPr>
          <a:xfrm>
            <a:off x="1562100" y="1181100"/>
            <a:ext cx="1143000" cy="1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rgbClr val="595959"/>
                </a:solidFill>
              </a:rPr>
              <a:t>Awaiting Handoff</a:t>
            </a:r>
            <a:endParaRPr sz="650">
              <a:solidFill>
                <a:srgbClr val="595959"/>
              </a:solidFill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2768600" y="863600"/>
            <a:ext cx="1143000" cy="5079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4"/>
          <p:cNvSpPr txBox="1"/>
          <p:nvPr/>
        </p:nvSpPr>
        <p:spPr>
          <a:xfrm>
            <a:off x="2768600" y="889000"/>
            <a:ext cx="11430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C27C0E"/>
                </a:solidFill>
              </a:rPr>
              <a:t>5</a:t>
            </a:r>
            <a:endParaRPr b="1" sz="1500">
              <a:solidFill>
                <a:srgbClr val="C27C0E"/>
              </a:solidFill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2768600" y="1181100"/>
            <a:ext cx="1143000" cy="1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rgbClr val="595959"/>
                </a:solidFill>
              </a:rPr>
              <a:t>Awaiting Kickoff</a:t>
            </a:r>
            <a:endParaRPr sz="650">
              <a:solidFill>
                <a:srgbClr val="595959"/>
              </a:solidFill>
            </a:endParaRPr>
          </a:p>
        </p:txBody>
      </p:sp>
      <p:sp>
        <p:nvSpPr>
          <p:cNvPr id="78" name="Google Shape;78;p14"/>
          <p:cNvSpPr/>
          <p:nvPr/>
        </p:nvSpPr>
        <p:spPr>
          <a:xfrm>
            <a:off x="3975100" y="863600"/>
            <a:ext cx="1143000" cy="5079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4"/>
          <p:cNvSpPr txBox="1"/>
          <p:nvPr/>
        </p:nvSpPr>
        <p:spPr>
          <a:xfrm>
            <a:off x="3975100" y="889000"/>
            <a:ext cx="11430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107C41"/>
                </a:solidFill>
              </a:rPr>
              <a:t>63</a:t>
            </a:r>
            <a:endParaRPr b="1" sz="1500">
              <a:solidFill>
                <a:srgbClr val="107C41"/>
              </a:solidFill>
            </a:endParaRPr>
          </a:p>
        </p:txBody>
      </p:sp>
      <p:sp>
        <p:nvSpPr>
          <p:cNvPr id="80" name="Google Shape;80;p14"/>
          <p:cNvSpPr txBox="1"/>
          <p:nvPr/>
        </p:nvSpPr>
        <p:spPr>
          <a:xfrm>
            <a:off x="3975100" y="1181100"/>
            <a:ext cx="1143000" cy="1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rgbClr val="595959"/>
                </a:solidFill>
              </a:rPr>
              <a:t>In Progress</a:t>
            </a:r>
            <a:endParaRPr sz="650">
              <a:solidFill>
                <a:srgbClr val="595959"/>
              </a:solidFill>
            </a:endParaRPr>
          </a:p>
        </p:txBody>
      </p:sp>
      <p:sp>
        <p:nvSpPr>
          <p:cNvPr id="81" name="Google Shape;81;p14"/>
          <p:cNvSpPr/>
          <p:nvPr/>
        </p:nvSpPr>
        <p:spPr>
          <a:xfrm>
            <a:off x="5181600" y="863600"/>
            <a:ext cx="1143000" cy="5079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4"/>
          <p:cNvSpPr txBox="1"/>
          <p:nvPr/>
        </p:nvSpPr>
        <p:spPr>
          <a:xfrm>
            <a:off x="5181600" y="889000"/>
            <a:ext cx="11430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595959"/>
                </a:solidFill>
              </a:rPr>
              <a:t>33</a:t>
            </a:r>
            <a:endParaRPr b="1" sz="1500">
              <a:solidFill>
                <a:srgbClr val="595959"/>
              </a:solidFill>
            </a:endParaRPr>
          </a:p>
        </p:txBody>
      </p:sp>
      <p:sp>
        <p:nvSpPr>
          <p:cNvPr id="83" name="Google Shape;83;p14"/>
          <p:cNvSpPr txBox="1"/>
          <p:nvPr/>
        </p:nvSpPr>
        <p:spPr>
          <a:xfrm>
            <a:off x="5181600" y="1181100"/>
            <a:ext cx="1143000" cy="1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rgbClr val="595959"/>
                </a:solidFill>
              </a:rPr>
              <a:t>On Hold</a:t>
            </a:r>
            <a:endParaRPr sz="650">
              <a:solidFill>
                <a:srgbClr val="595959"/>
              </a:solidFill>
            </a:endParaRPr>
          </a:p>
        </p:txBody>
      </p:sp>
      <p:sp>
        <p:nvSpPr>
          <p:cNvPr id="84" name="Google Shape;84;p14"/>
          <p:cNvSpPr/>
          <p:nvPr/>
        </p:nvSpPr>
        <p:spPr>
          <a:xfrm>
            <a:off x="6388100" y="863600"/>
            <a:ext cx="1143000" cy="5079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4"/>
          <p:cNvSpPr txBox="1"/>
          <p:nvPr/>
        </p:nvSpPr>
        <p:spPr>
          <a:xfrm>
            <a:off x="6388100" y="889000"/>
            <a:ext cx="11430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1565C0"/>
                </a:solidFill>
              </a:rPr>
              <a:t>60</a:t>
            </a:r>
            <a:endParaRPr b="1" sz="1500">
              <a:solidFill>
                <a:srgbClr val="1565C0"/>
              </a:solidFill>
            </a:endParaRPr>
          </a:p>
        </p:txBody>
      </p:sp>
      <p:sp>
        <p:nvSpPr>
          <p:cNvPr id="86" name="Google Shape;86;p14"/>
          <p:cNvSpPr txBox="1"/>
          <p:nvPr/>
        </p:nvSpPr>
        <p:spPr>
          <a:xfrm>
            <a:off x="6388100" y="1181100"/>
            <a:ext cx="1143000" cy="1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rgbClr val="595959"/>
                </a:solidFill>
              </a:rPr>
              <a:t>NL Awaiting GL</a:t>
            </a:r>
            <a:endParaRPr sz="650">
              <a:solidFill>
                <a:srgbClr val="595959"/>
              </a:solidFill>
            </a:endParaRPr>
          </a:p>
        </p:txBody>
      </p:sp>
      <p:sp>
        <p:nvSpPr>
          <p:cNvPr id="87" name="Google Shape;87;p14"/>
          <p:cNvSpPr/>
          <p:nvPr/>
        </p:nvSpPr>
        <p:spPr>
          <a:xfrm>
            <a:off x="7594600" y="863600"/>
            <a:ext cx="1143000" cy="5079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4"/>
          <p:cNvSpPr txBox="1"/>
          <p:nvPr/>
        </p:nvSpPr>
        <p:spPr>
          <a:xfrm>
            <a:off x="7594600" y="889000"/>
            <a:ext cx="11430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107C41"/>
                </a:solidFill>
              </a:rPr>
              <a:t>20</a:t>
            </a:r>
            <a:endParaRPr b="1" sz="1500">
              <a:solidFill>
                <a:srgbClr val="107C41"/>
              </a:solidFill>
            </a:endParaRPr>
          </a:p>
        </p:txBody>
      </p:sp>
      <p:sp>
        <p:nvSpPr>
          <p:cNvPr id="89" name="Google Shape;89;p14"/>
          <p:cNvSpPr txBox="1"/>
          <p:nvPr/>
        </p:nvSpPr>
        <p:spPr>
          <a:xfrm>
            <a:off x="7594600" y="1181100"/>
            <a:ext cx="1143000" cy="1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rgbClr val="595959"/>
                </a:solidFill>
              </a:rPr>
              <a:t>NL Awaiting Close</a:t>
            </a:r>
            <a:endParaRPr sz="650">
              <a:solidFill>
                <a:srgbClr val="595959"/>
              </a:solidFill>
            </a:endParaRPr>
          </a:p>
        </p:txBody>
      </p:sp>
      <p:sp>
        <p:nvSpPr>
          <p:cNvPr id="90" name="Google Shape;90;p14"/>
          <p:cNvSpPr/>
          <p:nvPr/>
        </p:nvSpPr>
        <p:spPr>
          <a:xfrm>
            <a:off x="355600" y="1447800"/>
            <a:ext cx="2743200" cy="216000"/>
          </a:xfrm>
          <a:prstGeom prst="rect">
            <a:avLst/>
          </a:prstGeom>
          <a:solidFill>
            <a:srgbClr val="FF44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4"/>
          <p:cNvSpPr txBox="1"/>
          <p:nvPr/>
        </p:nvSpPr>
        <p:spPr>
          <a:xfrm>
            <a:off x="406400" y="1460500"/>
            <a:ext cx="2641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50">
                <a:solidFill>
                  <a:srgbClr val="FFFFFF"/>
                </a:solidFill>
              </a:rPr>
              <a:t>Awaiting Handoff  (12)</a:t>
            </a:r>
            <a:endParaRPr b="1" sz="750">
              <a:solidFill>
                <a:srgbClr val="FFFFFF"/>
              </a:solidFill>
            </a:endParaRPr>
          </a:p>
        </p:txBody>
      </p:sp>
      <p:sp>
        <p:nvSpPr>
          <p:cNvPr id="92" name="Google Shape;92;p14"/>
          <p:cNvSpPr/>
          <p:nvPr/>
        </p:nvSpPr>
        <p:spPr>
          <a:xfrm>
            <a:off x="355600" y="1689100"/>
            <a:ext cx="2743200" cy="2793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406400" y="1701800"/>
            <a:ext cx="2082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50" u="sng">
                <a:solidFill>
                  <a:schemeClr val="hlink"/>
                </a:solidFill>
                <a:hlinkClick r:id="rId3"/>
              </a:rPr>
              <a:t>Tesla</a:t>
            </a:r>
            <a:endParaRPr b="1" sz="750">
              <a:solidFill>
                <a:srgbClr val="1A1A2E"/>
              </a:solidFill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2413000" y="1701800"/>
            <a:ext cx="635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565C0"/>
                </a:solidFill>
              </a:rPr>
              <a:t>110 hrs</a:t>
            </a:r>
            <a:endParaRPr sz="700">
              <a:solidFill>
                <a:srgbClr val="1565C0"/>
              </a:solidFill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355600" y="1968500"/>
            <a:ext cx="2743200" cy="27930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406400" y="1981200"/>
            <a:ext cx="2082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50" u="sng">
                <a:solidFill>
                  <a:schemeClr val="hlink"/>
                </a:solidFill>
                <a:hlinkClick r:id="rId4"/>
              </a:rPr>
              <a:t>Intrado Life and Safety </a:t>
            </a:r>
            <a:endParaRPr b="1" sz="750">
              <a:solidFill>
                <a:srgbClr val="1A1A2E"/>
              </a:solidFill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2413000" y="1981200"/>
            <a:ext cx="635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565C0"/>
                </a:solidFill>
              </a:rPr>
              <a:t>80 hrs</a:t>
            </a:r>
            <a:endParaRPr sz="700">
              <a:solidFill>
                <a:srgbClr val="1565C0"/>
              </a:solidFill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355600" y="2247900"/>
            <a:ext cx="2743200" cy="2793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406400" y="2260600"/>
            <a:ext cx="2082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50" u="sng">
                <a:solidFill>
                  <a:schemeClr val="hlink"/>
                </a:solidFill>
                <a:hlinkClick r:id="rId5"/>
              </a:rPr>
              <a:t>Credit Agricole CA-GIP</a:t>
            </a:r>
            <a:endParaRPr b="1" sz="750">
              <a:solidFill>
                <a:srgbClr val="1A1A2E"/>
              </a:solidFill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2413000" y="2260600"/>
            <a:ext cx="635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565C0"/>
                </a:solidFill>
              </a:rPr>
              <a:t>40 hrs</a:t>
            </a:r>
            <a:endParaRPr sz="700">
              <a:solidFill>
                <a:srgbClr val="1565C0"/>
              </a:solidFill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355600" y="2527300"/>
            <a:ext cx="2743200" cy="27930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406400" y="2540000"/>
            <a:ext cx="2082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50" u="sng">
                <a:solidFill>
                  <a:schemeClr val="hlink"/>
                </a:solidFill>
                <a:hlinkClick r:id="rId6"/>
              </a:rPr>
              <a:t>CIBC</a:t>
            </a:r>
            <a:endParaRPr b="1" sz="750">
              <a:solidFill>
                <a:srgbClr val="1A1A2E"/>
              </a:solidFill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2413000" y="2540000"/>
            <a:ext cx="635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565C0"/>
                </a:solidFill>
              </a:rPr>
              <a:t>32 hrs</a:t>
            </a:r>
            <a:endParaRPr sz="700">
              <a:solidFill>
                <a:srgbClr val="1565C0"/>
              </a:solidFill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355600" y="2806700"/>
            <a:ext cx="2743200" cy="2793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406400" y="2819400"/>
            <a:ext cx="2082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50" u="sng">
                <a:solidFill>
                  <a:schemeClr val="hlink"/>
                </a:solidFill>
                <a:hlinkClick r:id="rId7"/>
              </a:rPr>
              <a:t>ING España &amp; Portugal</a:t>
            </a:r>
            <a:endParaRPr b="1" sz="750">
              <a:solidFill>
                <a:srgbClr val="1A1A2E"/>
              </a:solidFill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2413000" y="2819400"/>
            <a:ext cx="635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565C0"/>
                </a:solidFill>
              </a:rPr>
              <a:t>20 hrs</a:t>
            </a:r>
            <a:endParaRPr sz="700">
              <a:solidFill>
                <a:srgbClr val="1565C0"/>
              </a:solidFill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3200400" y="1447800"/>
            <a:ext cx="2743200" cy="216000"/>
          </a:xfrm>
          <a:prstGeom prst="rect">
            <a:avLst/>
          </a:prstGeom>
          <a:solidFill>
            <a:srgbClr val="C27C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3251200" y="1460500"/>
            <a:ext cx="2641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50">
                <a:solidFill>
                  <a:srgbClr val="FFFFFF"/>
                </a:solidFill>
              </a:rPr>
              <a:t>Awaiting Kickoff  (5)</a:t>
            </a:r>
            <a:endParaRPr b="1" sz="750">
              <a:solidFill>
                <a:srgbClr val="FFFFFF"/>
              </a:solidFill>
            </a:endParaRPr>
          </a:p>
        </p:txBody>
      </p:sp>
      <p:sp>
        <p:nvSpPr>
          <p:cNvPr id="109" name="Google Shape;109;p14"/>
          <p:cNvSpPr/>
          <p:nvPr/>
        </p:nvSpPr>
        <p:spPr>
          <a:xfrm>
            <a:off x="3200400" y="1689100"/>
            <a:ext cx="2743200" cy="2793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3251200" y="1701800"/>
            <a:ext cx="2082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50" u="sng">
                <a:solidFill>
                  <a:schemeClr val="hlink"/>
                </a:solidFill>
                <a:hlinkClick r:id="rId8"/>
              </a:rPr>
              <a:t>MLP</a:t>
            </a:r>
            <a:endParaRPr b="1" sz="750">
              <a:solidFill>
                <a:srgbClr val="1A1A2E"/>
              </a:solidFill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5257800" y="1701800"/>
            <a:ext cx="635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565C0"/>
                </a:solidFill>
              </a:rPr>
              <a:t>109 hrs</a:t>
            </a:r>
            <a:endParaRPr sz="700">
              <a:solidFill>
                <a:srgbClr val="1565C0"/>
              </a:solidFill>
            </a:endParaRPr>
          </a:p>
        </p:txBody>
      </p:sp>
      <p:sp>
        <p:nvSpPr>
          <p:cNvPr id="112" name="Google Shape;112;p14"/>
          <p:cNvSpPr/>
          <p:nvPr/>
        </p:nvSpPr>
        <p:spPr>
          <a:xfrm>
            <a:off x="3200400" y="1968500"/>
            <a:ext cx="2743200" cy="27930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3251200" y="1981200"/>
            <a:ext cx="2082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50" u="sng">
                <a:solidFill>
                  <a:schemeClr val="hlink"/>
                </a:solidFill>
                <a:hlinkClick r:id="rId9"/>
              </a:rPr>
              <a:t>Jefferies LLC</a:t>
            </a:r>
            <a:endParaRPr b="1" sz="750">
              <a:solidFill>
                <a:srgbClr val="1A1A2E"/>
              </a:solidFill>
            </a:endParaRPr>
          </a:p>
        </p:txBody>
      </p:sp>
      <p:sp>
        <p:nvSpPr>
          <p:cNvPr id="114" name="Google Shape;114;p14"/>
          <p:cNvSpPr txBox="1"/>
          <p:nvPr/>
        </p:nvSpPr>
        <p:spPr>
          <a:xfrm>
            <a:off x="5257800" y="1981200"/>
            <a:ext cx="635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565C0"/>
                </a:solidFill>
              </a:rPr>
              <a:t>85 hrs</a:t>
            </a:r>
            <a:endParaRPr sz="700">
              <a:solidFill>
                <a:srgbClr val="1565C0"/>
              </a:solidFill>
            </a:endParaRPr>
          </a:p>
        </p:txBody>
      </p:sp>
      <p:sp>
        <p:nvSpPr>
          <p:cNvPr id="115" name="Google Shape;115;p14"/>
          <p:cNvSpPr/>
          <p:nvPr/>
        </p:nvSpPr>
        <p:spPr>
          <a:xfrm>
            <a:off x="3200400" y="2247900"/>
            <a:ext cx="2743200" cy="2793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3251200" y="2260600"/>
            <a:ext cx="2082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50" u="sng">
                <a:solidFill>
                  <a:schemeClr val="hlink"/>
                </a:solidFill>
                <a:hlinkClick r:id="rId10"/>
              </a:rPr>
              <a:t>iFood</a:t>
            </a:r>
            <a:endParaRPr b="1" sz="750">
              <a:solidFill>
                <a:srgbClr val="1A1A2E"/>
              </a:solidFill>
            </a:endParaRPr>
          </a:p>
        </p:txBody>
      </p:sp>
      <p:sp>
        <p:nvSpPr>
          <p:cNvPr id="117" name="Google Shape;117;p14"/>
          <p:cNvSpPr txBox="1"/>
          <p:nvPr/>
        </p:nvSpPr>
        <p:spPr>
          <a:xfrm>
            <a:off x="5257800" y="2260600"/>
            <a:ext cx="635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565C0"/>
                </a:solidFill>
              </a:rPr>
              <a:t>67 hrs</a:t>
            </a:r>
            <a:endParaRPr sz="700">
              <a:solidFill>
                <a:srgbClr val="1565C0"/>
              </a:solidFill>
            </a:endParaRPr>
          </a:p>
        </p:txBody>
      </p:sp>
      <p:sp>
        <p:nvSpPr>
          <p:cNvPr id="118" name="Google Shape;118;p14"/>
          <p:cNvSpPr/>
          <p:nvPr/>
        </p:nvSpPr>
        <p:spPr>
          <a:xfrm>
            <a:off x="3200400" y="2527300"/>
            <a:ext cx="2743200" cy="27930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3251200" y="2540000"/>
            <a:ext cx="2082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50" u="sng">
                <a:solidFill>
                  <a:schemeClr val="hlink"/>
                </a:solidFill>
                <a:hlinkClick r:id="rId11"/>
              </a:rPr>
              <a:t>Character AI</a:t>
            </a:r>
            <a:endParaRPr b="1" sz="750">
              <a:solidFill>
                <a:srgbClr val="1A1A2E"/>
              </a:solidFill>
            </a:endParaRPr>
          </a:p>
        </p:txBody>
      </p:sp>
      <p:sp>
        <p:nvSpPr>
          <p:cNvPr id="120" name="Google Shape;120;p14"/>
          <p:cNvSpPr txBox="1"/>
          <p:nvPr/>
        </p:nvSpPr>
        <p:spPr>
          <a:xfrm>
            <a:off x="5257800" y="2540000"/>
            <a:ext cx="635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565C0"/>
                </a:solidFill>
              </a:rPr>
              <a:t>40 hrs</a:t>
            </a:r>
            <a:endParaRPr sz="700">
              <a:solidFill>
                <a:srgbClr val="1565C0"/>
              </a:solidFill>
            </a:endParaRPr>
          </a:p>
        </p:txBody>
      </p:sp>
      <p:sp>
        <p:nvSpPr>
          <p:cNvPr id="121" name="Google Shape;121;p14"/>
          <p:cNvSpPr/>
          <p:nvPr/>
        </p:nvSpPr>
        <p:spPr>
          <a:xfrm>
            <a:off x="3200400" y="2806700"/>
            <a:ext cx="2743200" cy="2793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3251200" y="2819400"/>
            <a:ext cx="2641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50" u="sng">
                <a:solidFill>
                  <a:schemeClr val="hlink"/>
                </a:solidFill>
                <a:hlinkClick r:id="rId12"/>
              </a:rPr>
              <a:t>Verisure Securitas Direc</a:t>
            </a:r>
            <a:endParaRPr b="1" sz="750">
              <a:solidFill>
                <a:srgbClr val="1A1A2E"/>
              </a:solidFill>
            </a:endParaRPr>
          </a:p>
        </p:txBody>
      </p:sp>
      <p:sp>
        <p:nvSpPr>
          <p:cNvPr id="123" name="Google Shape;123;p14"/>
          <p:cNvSpPr/>
          <p:nvPr/>
        </p:nvSpPr>
        <p:spPr>
          <a:xfrm>
            <a:off x="6045200" y="1447800"/>
            <a:ext cx="2743200" cy="21600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6096000" y="1460500"/>
            <a:ext cx="2641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50">
                <a:solidFill>
                  <a:srgbClr val="FFFFFF"/>
                </a:solidFill>
              </a:rPr>
              <a:t>In Progress  (63)</a:t>
            </a:r>
            <a:endParaRPr b="1" sz="750">
              <a:solidFill>
                <a:srgbClr val="FFFFFF"/>
              </a:solidFill>
            </a:endParaRPr>
          </a:p>
        </p:txBody>
      </p:sp>
      <p:sp>
        <p:nvSpPr>
          <p:cNvPr id="125" name="Google Shape;125;p14"/>
          <p:cNvSpPr/>
          <p:nvPr/>
        </p:nvSpPr>
        <p:spPr>
          <a:xfrm>
            <a:off x="6045200" y="1689100"/>
            <a:ext cx="2743200" cy="2793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4"/>
          <p:cNvSpPr txBox="1"/>
          <p:nvPr/>
        </p:nvSpPr>
        <p:spPr>
          <a:xfrm>
            <a:off x="6096000" y="1701800"/>
            <a:ext cx="2082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50" u="sng">
                <a:solidFill>
                  <a:schemeClr val="hlink"/>
                </a:solidFill>
                <a:hlinkClick r:id="rId13"/>
              </a:rPr>
              <a:t>Bank of America</a:t>
            </a:r>
            <a:endParaRPr b="1" sz="750">
              <a:solidFill>
                <a:srgbClr val="1A1A2E"/>
              </a:solidFill>
            </a:endParaRPr>
          </a:p>
        </p:txBody>
      </p:sp>
      <p:sp>
        <p:nvSpPr>
          <p:cNvPr id="127" name="Google Shape;127;p14"/>
          <p:cNvSpPr txBox="1"/>
          <p:nvPr/>
        </p:nvSpPr>
        <p:spPr>
          <a:xfrm>
            <a:off x="8102600" y="1701800"/>
            <a:ext cx="635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565C0"/>
                </a:solidFill>
              </a:rPr>
              <a:t>3,739 hrs</a:t>
            </a:r>
            <a:endParaRPr sz="700">
              <a:solidFill>
                <a:srgbClr val="1565C0"/>
              </a:solidFill>
            </a:endParaRPr>
          </a:p>
        </p:txBody>
      </p:sp>
      <p:sp>
        <p:nvSpPr>
          <p:cNvPr id="128" name="Google Shape;128;p14"/>
          <p:cNvSpPr/>
          <p:nvPr/>
        </p:nvSpPr>
        <p:spPr>
          <a:xfrm>
            <a:off x="6045200" y="1968500"/>
            <a:ext cx="2743200" cy="27930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4"/>
          <p:cNvSpPr txBox="1"/>
          <p:nvPr/>
        </p:nvSpPr>
        <p:spPr>
          <a:xfrm>
            <a:off x="6096000" y="1981200"/>
            <a:ext cx="2082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50" u="sng">
                <a:solidFill>
                  <a:schemeClr val="hlink"/>
                </a:solidFill>
                <a:hlinkClick r:id="rId14"/>
              </a:rPr>
              <a:t>United Overseas Bank Lim</a:t>
            </a:r>
            <a:endParaRPr b="1" sz="750">
              <a:solidFill>
                <a:srgbClr val="1A1A2E"/>
              </a:solidFill>
            </a:endParaRPr>
          </a:p>
        </p:txBody>
      </p:sp>
      <p:sp>
        <p:nvSpPr>
          <p:cNvPr id="130" name="Google Shape;130;p14"/>
          <p:cNvSpPr txBox="1"/>
          <p:nvPr/>
        </p:nvSpPr>
        <p:spPr>
          <a:xfrm>
            <a:off x="8102600" y="1981200"/>
            <a:ext cx="635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565C0"/>
                </a:solidFill>
              </a:rPr>
              <a:t>2,364 hrs</a:t>
            </a:r>
            <a:endParaRPr sz="700">
              <a:solidFill>
                <a:srgbClr val="1565C0"/>
              </a:solidFill>
            </a:endParaRPr>
          </a:p>
        </p:txBody>
      </p:sp>
      <p:sp>
        <p:nvSpPr>
          <p:cNvPr id="131" name="Google Shape;131;p14"/>
          <p:cNvSpPr/>
          <p:nvPr/>
        </p:nvSpPr>
        <p:spPr>
          <a:xfrm>
            <a:off x="6045200" y="2247900"/>
            <a:ext cx="2743200" cy="2793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4"/>
          <p:cNvSpPr txBox="1"/>
          <p:nvPr/>
        </p:nvSpPr>
        <p:spPr>
          <a:xfrm>
            <a:off x="6096000" y="2260600"/>
            <a:ext cx="2082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50" u="sng">
                <a:solidFill>
                  <a:schemeClr val="hlink"/>
                </a:solidFill>
                <a:hlinkClick r:id="rId15"/>
              </a:rPr>
              <a:t>Wells Fargo</a:t>
            </a:r>
            <a:endParaRPr b="1" sz="750">
              <a:solidFill>
                <a:srgbClr val="1A1A2E"/>
              </a:solidFill>
            </a:endParaRPr>
          </a:p>
        </p:txBody>
      </p:sp>
      <p:sp>
        <p:nvSpPr>
          <p:cNvPr id="133" name="Google Shape;133;p14"/>
          <p:cNvSpPr txBox="1"/>
          <p:nvPr/>
        </p:nvSpPr>
        <p:spPr>
          <a:xfrm>
            <a:off x="8102600" y="2260600"/>
            <a:ext cx="635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565C0"/>
                </a:solidFill>
              </a:rPr>
              <a:t>1,780 hrs</a:t>
            </a:r>
            <a:endParaRPr sz="700">
              <a:solidFill>
                <a:srgbClr val="1565C0"/>
              </a:solidFill>
            </a:endParaRPr>
          </a:p>
        </p:txBody>
      </p:sp>
      <p:sp>
        <p:nvSpPr>
          <p:cNvPr id="134" name="Google Shape;134;p14"/>
          <p:cNvSpPr/>
          <p:nvPr/>
        </p:nvSpPr>
        <p:spPr>
          <a:xfrm>
            <a:off x="6045200" y="2527300"/>
            <a:ext cx="2743200" cy="27930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4"/>
          <p:cNvSpPr txBox="1"/>
          <p:nvPr/>
        </p:nvSpPr>
        <p:spPr>
          <a:xfrm>
            <a:off x="6096000" y="2540000"/>
            <a:ext cx="2082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50" u="sng">
                <a:solidFill>
                  <a:schemeClr val="hlink"/>
                </a:solidFill>
                <a:hlinkClick r:id="rId16"/>
              </a:rPr>
              <a:t>Credit Agricole CA-GIP</a:t>
            </a:r>
            <a:endParaRPr b="1" sz="750">
              <a:solidFill>
                <a:srgbClr val="1A1A2E"/>
              </a:solidFill>
            </a:endParaRPr>
          </a:p>
        </p:txBody>
      </p:sp>
      <p:sp>
        <p:nvSpPr>
          <p:cNvPr id="136" name="Google Shape;136;p14"/>
          <p:cNvSpPr txBox="1"/>
          <p:nvPr/>
        </p:nvSpPr>
        <p:spPr>
          <a:xfrm>
            <a:off x="8102600" y="2540000"/>
            <a:ext cx="635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565C0"/>
                </a:solidFill>
              </a:rPr>
              <a:t>1,387 hrs</a:t>
            </a:r>
            <a:endParaRPr sz="700">
              <a:solidFill>
                <a:srgbClr val="1565C0"/>
              </a:solidFill>
            </a:endParaRPr>
          </a:p>
        </p:txBody>
      </p:sp>
      <p:sp>
        <p:nvSpPr>
          <p:cNvPr id="137" name="Google Shape;137;p14"/>
          <p:cNvSpPr/>
          <p:nvPr/>
        </p:nvSpPr>
        <p:spPr>
          <a:xfrm>
            <a:off x="6045200" y="2806700"/>
            <a:ext cx="2743200" cy="2793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4"/>
          <p:cNvSpPr txBox="1"/>
          <p:nvPr/>
        </p:nvSpPr>
        <p:spPr>
          <a:xfrm>
            <a:off x="6096000" y="2819400"/>
            <a:ext cx="2082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50" u="sng">
                <a:solidFill>
                  <a:schemeClr val="hlink"/>
                </a:solidFill>
                <a:hlinkClick r:id="rId17"/>
              </a:rPr>
              <a:t>Lumen Technologies</a:t>
            </a:r>
            <a:endParaRPr b="1" sz="750">
              <a:solidFill>
                <a:srgbClr val="1A1A2E"/>
              </a:solidFill>
            </a:endParaRPr>
          </a:p>
        </p:txBody>
      </p:sp>
      <p:sp>
        <p:nvSpPr>
          <p:cNvPr id="139" name="Google Shape;139;p14"/>
          <p:cNvSpPr txBox="1"/>
          <p:nvPr/>
        </p:nvSpPr>
        <p:spPr>
          <a:xfrm>
            <a:off x="8102600" y="2819400"/>
            <a:ext cx="635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565C0"/>
                </a:solidFill>
              </a:rPr>
              <a:t>1,345 hrs</a:t>
            </a:r>
            <a:endParaRPr sz="700">
              <a:solidFill>
                <a:srgbClr val="1565C0"/>
              </a:solidFill>
            </a:endParaRPr>
          </a:p>
        </p:txBody>
      </p:sp>
      <p:sp>
        <p:nvSpPr>
          <p:cNvPr id="140" name="Google Shape;140;p14"/>
          <p:cNvSpPr/>
          <p:nvPr/>
        </p:nvSpPr>
        <p:spPr>
          <a:xfrm>
            <a:off x="355600" y="3314700"/>
            <a:ext cx="2743200" cy="21600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4"/>
          <p:cNvSpPr txBox="1"/>
          <p:nvPr/>
        </p:nvSpPr>
        <p:spPr>
          <a:xfrm>
            <a:off x="406400" y="3327400"/>
            <a:ext cx="2641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50">
                <a:solidFill>
                  <a:srgbClr val="1A1A2E"/>
                </a:solidFill>
              </a:rPr>
              <a:t>On Hold  (33)</a:t>
            </a:r>
            <a:endParaRPr b="1" sz="750">
              <a:solidFill>
                <a:srgbClr val="1A1A2E"/>
              </a:solidFill>
            </a:endParaRPr>
          </a:p>
        </p:txBody>
      </p:sp>
      <p:sp>
        <p:nvSpPr>
          <p:cNvPr id="142" name="Google Shape;142;p14"/>
          <p:cNvSpPr/>
          <p:nvPr/>
        </p:nvSpPr>
        <p:spPr>
          <a:xfrm>
            <a:off x="355600" y="3556000"/>
            <a:ext cx="2743200" cy="2793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4"/>
          <p:cNvSpPr txBox="1"/>
          <p:nvPr/>
        </p:nvSpPr>
        <p:spPr>
          <a:xfrm>
            <a:off x="406400" y="3568700"/>
            <a:ext cx="2082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50" u="sng">
                <a:solidFill>
                  <a:schemeClr val="hlink"/>
                </a:solidFill>
                <a:hlinkClick r:id="rId18"/>
              </a:rPr>
              <a:t>CVS Health</a:t>
            </a:r>
            <a:endParaRPr b="1" sz="750">
              <a:solidFill>
                <a:srgbClr val="1A1A2E"/>
              </a:solidFill>
            </a:endParaRPr>
          </a:p>
        </p:txBody>
      </p:sp>
      <p:sp>
        <p:nvSpPr>
          <p:cNvPr id="144" name="Google Shape;144;p14"/>
          <p:cNvSpPr txBox="1"/>
          <p:nvPr/>
        </p:nvSpPr>
        <p:spPr>
          <a:xfrm>
            <a:off x="2413000" y="3568700"/>
            <a:ext cx="635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565C0"/>
                </a:solidFill>
              </a:rPr>
              <a:t>356 hrs</a:t>
            </a:r>
            <a:endParaRPr sz="700">
              <a:solidFill>
                <a:srgbClr val="1565C0"/>
              </a:solidFill>
            </a:endParaRPr>
          </a:p>
        </p:txBody>
      </p:sp>
      <p:sp>
        <p:nvSpPr>
          <p:cNvPr id="145" name="Google Shape;145;p14"/>
          <p:cNvSpPr/>
          <p:nvPr/>
        </p:nvSpPr>
        <p:spPr>
          <a:xfrm>
            <a:off x="355600" y="3835400"/>
            <a:ext cx="2743200" cy="27930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4"/>
          <p:cNvSpPr txBox="1"/>
          <p:nvPr/>
        </p:nvSpPr>
        <p:spPr>
          <a:xfrm>
            <a:off x="406400" y="3848100"/>
            <a:ext cx="2082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50" u="sng">
                <a:solidFill>
                  <a:schemeClr val="hlink"/>
                </a:solidFill>
                <a:hlinkClick r:id="rId19"/>
              </a:rPr>
              <a:t>Vietcombank</a:t>
            </a:r>
            <a:endParaRPr b="1" sz="750">
              <a:solidFill>
                <a:srgbClr val="1A1A2E"/>
              </a:solidFill>
            </a:endParaRPr>
          </a:p>
        </p:txBody>
      </p:sp>
      <p:sp>
        <p:nvSpPr>
          <p:cNvPr id="147" name="Google Shape;147;p14"/>
          <p:cNvSpPr txBox="1"/>
          <p:nvPr/>
        </p:nvSpPr>
        <p:spPr>
          <a:xfrm>
            <a:off x="2413000" y="3848100"/>
            <a:ext cx="635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565C0"/>
                </a:solidFill>
              </a:rPr>
              <a:t>177 hrs</a:t>
            </a:r>
            <a:endParaRPr sz="700">
              <a:solidFill>
                <a:srgbClr val="1565C0"/>
              </a:solidFill>
            </a:endParaRPr>
          </a:p>
        </p:txBody>
      </p:sp>
      <p:sp>
        <p:nvSpPr>
          <p:cNvPr id="148" name="Google Shape;148;p14"/>
          <p:cNvSpPr/>
          <p:nvPr/>
        </p:nvSpPr>
        <p:spPr>
          <a:xfrm>
            <a:off x="355600" y="4114800"/>
            <a:ext cx="2743200" cy="2793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4"/>
          <p:cNvSpPr txBox="1"/>
          <p:nvPr/>
        </p:nvSpPr>
        <p:spPr>
          <a:xfrm>
            <a:off x="406400" y="4127500"/>
            <a:ext cx="2082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50" u="sng">
                <a:solidFill>
                  <a:schemeClr val="hlink"/>
                </a:solidFill>
                <a:hlinkClick r:id="rId20"/>
              </a:rPr>
              <a:t>Banca Monte dei Paschi d</a:t>
            </a:r>
            <a:endParaRPr b="1" sz="750">
              <a:solidFill>
                <a:srgbClr val="1A1A2E"/>
              </a:solidFill>
            </a:endParaRPr>
          </a:p>
        </p:txBody>
      </p:sp>
      <p:sp>
        <p:nvSpPr>
          <p:cNvPr id="150" name="Google Shape;150;p14"/>
          <p:cNvSpPr txBox="1"/>
          <p:nvPr/>
        </p:nvSpPr>
        <p:spPr>
          <a:xfrm>
            <a:off x="2413000" y="4127500"/>
            <a:ext cx="635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565C0"/>
                </a:solidFill>
              </a:rPr>
              <a:t>145 hrs</a:t>
            </a:r>
            <a:endParaRPr sz="700">
              <a:solidFill>
                <a:srgbClr val="1565C0"/>
              </a:solidFill>
            </a:endParaRPr>
          </a:p>
        </p:txBody>
      </p:sp>
      <p:sp>
        <p:nvSpPr>
          <p:cNvPr id="151" name="Google Shape;151;p14"/>
          <p:cNvSpPr/>
          <p:nvPr/>
        </p:nvSpPr>
        <p:spPr>
          <a:xfrm>
            <a:off x="355600" y="4394200"/>
            <a:ext cx="2743200" cy="27930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4"/>
          <p:cNvSpPr txBox="1"/>
          <p:nvPr/>
        </p:nvSpPr>
        <p:spPr>
          <a:xfrm>
            <a:off x="406400" y="4406900"/>
            <a:ext cx="2082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50" u="sng">
                <a:solidFill>
                  <a:schemeClr val="hlink"/>
                </a:solidFill>
                <a:hlinkClick r:id="rId21"/>
              </a:rPr>
              <a:t>VIZIO</a:t>
            </a:r>
            <a:endParaRPr b="1" sz="750">
              <a:solidFill>
                <a:srgbClr val="1A1A2E"/>
              </a:solidFill>
            </a:endParaRPr>
          </a:p>
        </p:txBody>
      </p:sp>
      <p:sp>
        <p:nvSpPr>
          <p:cNvPr id="153" name="Google Shape;153;p14"/>
          <p:cNvSpPr txBox="1"/>
          <p:nvPr/>
        </p:nvSpPr>
        <p:spPr>
          <a:xfrm>
            <a:off x="2413000" y="4406900"/>
            <a:ext cx="635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565C0"/>
                </a:solidFill>
              </a:rPr>
              <a:t>68 hrs</a:t>
            </a:r>
            <a:endParaRPr sz="700">
              <a:solidFill>
                <a:srgbClr val="1565C0"/>
              </a:solidFill>
            </a:endParaRPr>
          </a:p>
        </p:txBody>
      </p:sp>
      <p:sp>
        <p:nvSpPr>
          <p:cNvPr id="154" name="Google Shape;154;p14"/>
          <p:cNvSpPr/>
          <p:nvPr/>
        </p:nvSpPr>
        <p:spPr>
          <a:xfrm>
            <a:off x="355600" y="4673600"/>
            <a:ext cx="2743200" cy="2793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4"/>
          <p:cNvSpPr txBox="1"/>
          <p:nvPr/>
        </p:nvSpPr>
        <p:spPr>
          <a:xfrm>
            <a:off x="406400" y="4686300"/>
            <a:ext cx="2082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50" u="sng">
                <a:solidFill>
                  <a:schemeClr val="hlink"/>
                </a:solidFill>
                <a:hlinkClick r:id="rId22"/>
              </a:rPr>
              <a:t>Leonardo Company</a:t>
            </a:r>
            <a:endParaRPr b="1" sz="750">
              <a:solidFill>
                <a:srgbClr val="1A1A2E"/>
              </a:solidFill>
            </a:endParaRPr>
          </a:p>
        </p:txBody>
      </p:sp>
      <p:sp>
        <p:nvSpPr>
          <p:cNvPr id="156" name="Google Shape;156;p14"/>
          <p:cNvSpPr txBox="1"/>
          <p:nvPr/>
        </p:nvSpPr>
        <p:spPr>
          <a:xfrm>
            <a:off x="2413000" y="4686300"/>
            <a:ext cx="635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565C0"/>
                </a:solidFill>
              </a:rPr>
              <a:t>46 hrs</a:t>
            </a:r>
            <a:endParaRPr sz="700">
              <a:solidFill>
                <a:srgbClr val="1565C0"/>
              </a:solidFill>
            </a:endParaRPr>
          </a:p>
        </p:txBody>
      </p:sp>
      <p:sp>
        <p:nvSpPr>
          <p:cNvPr id="157" name="Google Shape;157;p14"/>
          <p:cNvSpPr/>
          <p:nvPr/>
        </p:nvSpPr>
        <p:spPr>
          <a:xfrm>
            <a:off x="3200400" y="3314700"/>
            <a:ext cx="2743200" cy="216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4"/>
          <p:cNvSpPr txBox="1"/>
          <p:nvPr/>
        </p:nvSpPr>
        <p:spPr>
          <a:xfrm>
            <a:off x="3251200" y="3327400"/>
            <a:ext cx="2641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50">
                <a:solidFill>
                  <a:srgbClr val="FFFFFF"/>
                </a:solidFill>
              </a:rPr>
              <a:t>NL Awaiting Go Live  (60)</a:t>
            </a:r>
            <a:endParaRPr b="1" sz="750">
              <a:solidFill>
                <a:srgbClr val="FFFFFF"/>
              </a:solidFill>
            </a:endParaRPr>
          </a:p>
        </p:txBody>
      </p:sp>
      <p:sp>
        <p:nvSpPr>
          <p:cNvPr id="159" name="Google Shape;159;p14"/>
          <p:cNvSpPr/>
          <p:nvPr/>
        </p:nvSpPr>
        <p:spPr>
          <a:xfrm>
            <a:off x="3200400" y="3556000"/>
            <a:ext cx="2743200" cy="2793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4"/>
          <p:cNvSpPr txBox="1"/>
          <p:nvPr/>
        </p:nvSpPr>
        <p:spPr>
          <a:xfrm>
            <a:off x="3251200" y="3568700"/>
            <a:ext cx="2082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50" u="sng">
                <a:solidFill>
                  <a:schemeClr val="hlink"/>
                </a:solidFill>
                <a:hlinkClick r:id="rId23"/>
              </a:rPr>
              <a:t>IBM</a:t>
            </a:r>
            <a:endParaRPr b="1" sz="750">
              <a:solidFill>
                <a:srgbClr val="1A1A2E"/>
              </a:solidFill>
            </a:endParaRPr>
          </a:p>
        </p:txBody>
      </p:sp>
      <p:sp>
        <p:nvSpPr>
          <p:cNvPr id="161" name="Google Shape;161;p14"/>
          <p:cNvSpPr txBox="1"/>
          <p:nvPr/>
        </p:nvSpPr>
        <p:spPr>
          <a:xfrm>
            <a:off x="5257800" y="3568700"/>
            <a:ext cx="635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565C0"/>
                </a:solidFill>
              </a:rPr>
              <a:t>184 hrs</a:t>
            </a:r>
            <a:endParaRPr sz="700">
              <a:solidFill>
                <a:srgbClr val="1565C0"/>
              </a:solidFill>
            </a:endParaRPr>
          </a:p>
        </p:txBody>
      </p:sp>
      <p:sp>
        <p:nvSpPr>
          <p:cNvPr id="162" name="Google Shape;162;p14"/>
          <p:cNvSpPr/>
          <p:nvPr/>
        </p:nvSpPr>
        <p:spPr>
          <a:xfrm>
            <a:off x="3200400" y="3835400"/>
            <a:ext cx="2743200" cy="27930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4"/>
          <p:cNvSpPr txBox="1"/>
          <p:nvPr/>
        </p:nvSpPr>
        <p:spPr>
          <a:xfrm>
            <a:off x="3251200" y="3848100"/>
            <a:ext cx="2082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50" u="sng">
                <a:solidFill>
                  <a:schemeClr val="hlink"/>
                </a:solidFill>
                <a:hlinkClick r:id="rId24"/>
              </a:rPr>
              <a:t>Clalit Health Services</a:t>
            </a:r>
            <a:endParaRPr b="1" sz="750">
              <a:solidFill>
                <a:srgbClr val="1A1A2E"/>
              </a:solidFill>
            </a:endParaRPr>
          </a:p>
        </p:txBody>
      </p:sp>
      <p:sp>
        <p:nvSpPr>
          <p:cNvPr id="164" name="Google Shape;164;p14"/>
          <p:cNvSpPr txBox="1"/>
          <p:nvPr/>
        </p:nvSpPr>
        <p:spPr>
          <a:xfrm>
            <a:off x="5257800" y="3848100"/>
            <a:ext cx="635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565C0"/>
                </a:solidFill>
              </a:rPr>
              <a:t>145 hrs</a:t>
            </a:r>
            <a:endParaRPr sz="700">
              <a:solidFill>
                <a:srgbClr val="1565C0"/>
              </a:solidFill>
            </a:endParaRPr>
          </a:p>
        </p:txBody>
      </p:sp>
      <p:sp>
        <p:nvSpPr>
          <p:cNvPr id="165" name="Google Shape;165;p14"/>
          <p:cNvSpPr/>
          <p:nvPr/>
        </p:nvSpPr>
        <p:spPr>
          <a:xfrm>
            <a:off x="3200400" y="4114800"/>
            <a:ext cx="2743200" cy="2793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4"/>
          <p:cNvSpPr txBox="1"/>
          <p:nvPr/>
        </p:nvSpPr>
        <p:spPr>
          <a:xfrm>
            <a:off x="3251200" y="4127500"/>
            <a:ext cx="2082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50" u="sng">
                <a:solidFill>
                  <a:schemeClr val="hlink"/>
                </a:solidFill>
                <a:hlinkClick r:id="rId25"/>
              </a:rPr>
              <a:t>euro-information</a:t>
            </a:r>
            <a:endParaRPr b="1" sz="750">
              <a:solidFill>
                <a:srgbClr val="1A1A2E"/>
              </a:solidFill>
            </a:endParaRPr>
          </a:p>
        </p:txBody>
      </p:sp>
      <p:sp>
        <p:nvSpPr>
          <p:cNvPr id="167" name="Google Shape;167;p14"/>
          <p:cNvSpPr txBox="1"/>
          <p:nvPr/>
        </p:nvSpPr>
        <p:spPr>
          <a:xfrm>
            <a:off x="5257800" y="4127500"/>
            <a:ext cx="635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565C0"/>
                </a:solidFill>
              </a:rPr>
              <a:t>104 hrs</a:t>
            </a:r>
            <a:endParaRPr sz="700">
              <a:solidFill>
                <a:srgbClr val="1565C0"/>
              </a:solidFill>
            </a:endParaRPr>
          </a:p>
        </p:txBody>
      </p:sp>
      <p:sp>
        <p:nvSpPr>
          <p:cNvPr id="168" name="Google Shape;168;p14"/>
          <p:cNvSpPr/>
          <p:nvPr/>
        </p:nvSpPr>
        <p:spPr>
          <a:xfrm>
            <a:off x="3200400" y="4394200"/>
            <a:ext cx="2743200" cy="27930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4"/>
          <p:cNvSpPr txBox="1"/>
          <p:nvPr/>
        </p:nvSpPr>
        <p:spPr>
          <a:xfrm>
            <a:off x="3251200" y="4406900"/>
            <a:ext cx="2082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50" u="sng">
                <a:solidFill>
                  <a:schemeClr val="hlink"/>
                </a:solidFill>
                <a:hlinkClick r:id="rId26"/>
              </a:rPr>
              <a:t>Boerse Stuttgart</a:t>
            </a:r>
            <a:endParaRPr b="1" sz="750">
              <a:solidFill>
                <a:srgbClr val="1A1A2E"/>
              </a:solidFill>
            </a:endParaRPr>
          </a:p>
        </p:txBody>
      </p:sp>
      <p:sp>
        <p:nvSpPr>
          <p:cNvPr id="170" name="Google Shape;170;p14"/>
          <p:cNvSpPr txBox="1"/>
          <p:nvPr/>
        </p:nvSpPr>
        <p:spPr>
          <a:xfrm>
            <a:off x="5257800" y="4406900"/>
            <a:ext cx="635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565C0"/>
                </a:solidFill>
              </a:rPr>
              <a:t>100 hrs</a:t>
            </a:r>
            <a:endParaRPr sz="700">
              <a:solidFill>
                <a:srgbClr val="1565C0"/>
              </a:solidFill>
            </a:endParaRPr>
          </a:p>
        </p:txBody>
      </p:sp>
      <p:sp>
        <p:nvSpPr>
          <p:cNvPr id="171" name="Google Shape;171;p14"/>
          <p:cNvSpPr/>
          <p:nvPr/>
        </p:nvSpPr>
        <p:spPr>
          <a:xfrm>
            <a:off x="3200400" y="4673600"/>
            <a:ext cx="2743200" cy="2793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4"/>
          <p:cNvSpPr txBox="1"/>
          <p:nvPr/>
        </p:nvSpPr>
        <p:spPr>
          <a:xfrm>
            <a:off x="3251200" y="4686300"/>
            <a:ext cx="2082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50" u="sng">
                <a:solidFill>
                  <a:schemeClr val="hlink"/>
                </a:solidFill>
                <a:hlinkClick r:id="rId27"/>
              </a:rPr>
              <a:t>Energisa</a:t>
            </a:r>
            <a:endParaRPr b="1" sz="750">
              <a:solidFill>
                <a:srgbClr val="1A1A2E"/>
              </a:solidFill>
            </a:endParaRPr>
          </a:p>
        </p:txBody>
      </p:sp>
      <p:sp>
        <p:nvSpPr>
          <p:cNvPr id="173" name="Google Shape;173;p14"/>
          <p:cNvSpPr txBox="1"/>
          <p:nvPr/>
        </p:nvSpPr>
        <p:spPr>
          <a:xfrm>
            <a:off x="5257800" y="4686300"/>
            <a:ext cx="635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565C0"/>
                </a:solidFill>
              </a:rPr>
              <a:t>97 hrs</a:t>
            </a:r>
            <a:endParaRPr sz="700">
              <a:solidFill>
                <a:srgbClr val="1565C0"/>
              </a:solidFill>
            </a:endParaRPr>
          </a:p>
        </p:txBody>
      </p:sp>
      <p:sp>
        <p:nvSpPr>
          <p:cNvPr id="174" name="Google Shape;174;p14"/>
          <p:cNvSpPr/>
          <p:nvPr/>
        </p:nvSpPr>
        <p:spPr>
          <a:xfrm>
            <a:off x="6045200" y="3314700"/>
            <a:ext cx="2743200" cy="21600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4"/>
          <p:cNvSpPr txBox="1"/>
          <p:nvPr/>
        </p:nvSpPr>
        <p:spPr>
          <a:xfrm>
            <a:off x="6096000" y="3327400"/>
            <a:ext cx="2641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50">
                <a:solidFill>
                  <a:srgbClr val="FFFFFF"/>
                </a:solidFill>
              </a:rPr>
              <a:t>NL Awaiting Closure  (20)</a:t>
            </a:r>
            <a:endParaRPr b="1" sz="750">
              <a:solidFill>
                <a:srgbClr val="FFFFFF"/>
              </a:solidFill>
            </a:endParaRPr>
          </a:p>
        </p:txBody>
      </p:sp>
      <p:sp>
        <p:nvSpPr>
          <p:cNvPr id="176" name="Google Shape;176;p14"/>
          <p:cNvSpPr/>
          <p:nvPr/>
        </p:nvSpPr>
        <p:spPr>
          <a:xfrm>
            <a:off x="6045200" y="3556000"/>
            <a:ext cx="2743200" cy="2793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4"/>
          <p:cNvSpPr txBox="1"/>
          <p:nvPr/>
        </p:nvSpPr>
        <p:spPr>
          <a:xfrm>
            <a:off x="6096000" y="3568700"/>
            <a:ext cx="2082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50" u="sng">
                <a:solidFill>
                  <a:schemeClr val="hlink"/>
                </a:solidFill>
                <a:hlinkClick r:id="rId28"/>
              </a:rPr>
              <a:t>Axon</a:t>
            </a:r>
            <a:endParaRPr b="1" sz="750">
              <a:solidFill>
                <a:srgbClr val="1A1A2E"/>
              </a:solidFill>
            </a:endParaRPr>
          </a:p>
        </p:txBody>
      </p:sp>
      <p:sp>
        <p:nvSpPr>
          <p:cNvPr id="178" name="Google Shape;178;p14"/>
          <p:cNvSpPr txBox="1"/>
          <p:nvPr/>
        </p:nvSpPr>
        <p:spPr>
          <a:xfrm>
            <a:off x="8102600" y="3568700"/>
            <a:ext cx="635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565C0"/>
                </a:solidFill>
              </a:rPr>
              <a:t>194 hrs</a:t>
            </a:r>
            <a:endParaRPr sz="700">
              <a:solidFill>
                <a:srgbClr val="1565C0"/>
              </a:solidFill>
            </a:endParaRPr>
          </a:p>
        </p:txBody>
      </p:sp>
      <p:sp>
        <p:nvSpPr>
          <p:cNvPr id="179" name="Google Shape;179;p14"/>
          <p:cNvSpPr/>
          <p:nvPr/>
        </p:nvSpPr>
        <p:spPr>
          <a:xfrm>
            <a:off x="6045200" y="3835400"/>
            <a:ext cx="2743200" cy="27930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4"/>
          <p:cNvSpPr txBox="1"/>
          <p:nvPr/>
        </p:nvSpPr>
        <p:spPr>
          <a:xfrm>
            <a:off x="6096000" y="3848100"/>
            <a:ext cx="2082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50" u="sng">
                <a:solidFill>
                  <a:schemeClr val="hlink"/>
                </a:solidFill>
                <a:hlinkClick r:id="rId29"/>
              </a:rPr>
              <a:t>Caisse Nationale des All</a:t>
            </a:r>
            <a:endParaRPr b="1" sz="750">
              <a:solidFill>
                <a:srgbClr val="1A1A2E"/>
              </a:solidFill>
            </a:endParaRPr>
          </a:p>
        </p:txBody>
      </p:sp>
      <p:sp>
        <p:nvSpPr>
          <p:cNvPr id="181" name="Google Shape;181;p14"/>
          <p:cNvSpPr txBox="1"/>
          <p:nvPr/>
        </p:nvSpPr>
        <p:spPr>
          <a:xfrm>
            <a:off x="8102600" y="3848100"/>
            <a:ext cx="635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565C0"/>
                </a:solidFill>
              </a:rPr>
              <a:t>54 hrs</a:t>
            </a:r>
            <a:endParaRPr sz="700">
              <a:solidFill>
                <a:srgbClr val="1565C0"/>
              </a:solidFill>
            </a:endParaRPr>
          </a:p>
        </p:txBody>
      </p:sp>
      <p:sp>
        <p:nvSpPr>
          <p:cNvPr id="182" name="Google Shape;182;p14"/>
          <p:cNvSpPr/>
          <p:nvPr/>
        </p:nvSpPr>
        <p:spPr>
          <a:xfrm>
            <a:off x="6045200" y="4114800"/>
            <a:ext cx="2743200" cy="2793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4"/>
          <p:cNvSpPr txBox="1"/>
          <p:nvPr/>
        </p:nvSpPr>
        <p:spPr>
          <a:xfrm>
            <a:off x="6096000" y="4127500"/>
            <a:ext cx="2082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50" u="sng">
                <a:solidFill>
                  <a:schemeClr val="hlink"/>
                </a:solidFill>
                <a:hlinkClick r:id="rId30"/>
              </a:rPr>
              <a:t>Express Scripts Canada</a:t>
            </a:r>
            <a:endParaRPr b="1" sz="750">
              <a:solidFill>
                <a:srgbClr val="1A1A2E"/>
              </a:solidFill>
            </a:endParaRPr>
          </a:p>
        </p:txBody>
      </p:sp>
      <p:sp>
        <p:nvSpPr>
          <p:cNvPr id="184" name="Google Shape;184;p14"/>
          <p:cNvSpPr txBox="1"/>
          <p:nvPr/>
        </p:nvSpPr>
        <p:spPr>
          <a:xfrm>
            <a:off x="8102600" y="4127500"/>
            <a:ext cx="635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565C0"/>
                </a:solidFill>
              </a:rPr>
              <a:t>53 hrs</a:t>
            </a:r>
            <a:endParaRPr sz="700">
              <a:solidFill>
                <a:srgbClr val="1565C0"/>
              </a:solidFill>
            </a:endParaRPr>
          </a:p>
        </p:txBody>
      </p:sp>
      <p:sp>
        <p:nvSpPr>
          <p:cNvPr id="185" name="Google Shape;185;p14"/>
          <p:cNvSpPr/>
          <p:nvPr/>
        </p:nvSpPr>
        <p:spPr>
          <a:xfrm>
            <a:off x="6045200" y="4394200"/>
            <a:ext cx="2743200" cy="27930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4"/>
          <p:cNvSpPr txBox="1"/>
          <p:nvPr/>
        </p:nvSpPr>
        <p:spPr>
          <a:xfrm>
            <a:off x="6096000" y="4406900"/>
            <a:ext cx="2082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50" u="sng">
                <a:solidFill>
                  <a:schemeClr val="hlink"/>
                </a:solidFill>
                <a:hlinkClick r:id="rId31"/>
              </a:rPr>
              <a:t>Alpitour</a:t>
            </a:r>
            <a:endParaRPr b="1" sz="750">
              <a:solidFill>
                <a:srgbClr val="1A1A2E"/>
              </a:solidFill>
            </a:endParaRPr>
          </a:p>
        </p:txBody>
      </p:sp>
      <p:sp>
        <p:nvSpPr>
          <p:cNvPr id="187" name="Google Shape;187;p14"/>
          <p:cNvSpPr txBox="1"/>
          <p:nvPr/>
        </p:nvSpPr>
        <p:spPr>
          <a:xfrm>
            <a:off x="8102600" y="4406900"/>
            <a:ext cx="635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565C0"/>
                </a:solidFill>
              </a:rPr>
              <a:t>39 hrs</a:t>
            </a:r>
            <a:endParaRPr sz="700">
              <a:solidFill>
                <a:srgbClr val="1565C0"/>
              </a:solidFill>
            </a:endParaRPr>
          </a:p>
        </p:txBody>
      </p:sp>
      <p:sp>
        <p:nvSpPr>
          <p:cNvPr id="188" name="Google Shape;188;p14"/>
          <p:cNvSpPr/>
          <p:nvPr/>
        </p:nvSpPr>
        <p:spPr>
          <a:xfrm>
            <a:off x="6045200" y="4673600"/>
            <a:ext cx="2743200" cy="2793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4"/>
          <p:cNvSpPr txBox="1"/>
          <p:nvPr/>
        </p:nvSpPr>
        <p:spPr>
          <a:xfrm>
            <a:off x="6096000" y="4686300"/>
            <a:ext cx="2082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50" u="sng">
                <a:solidFill>
                  <a:schemeClr val="hlink"/>
                </a:solidFill>
                <a:hlinkClick r:id="rId32"/>
              </a:rPr>
              <a:t>InnovAccer</a:t>
            </a:r>
            <a:endParaRPr b="1" sz="750">
              <a:solidFill>
                <a:srgbClr val="1A1A2E"/>
              </a:solidFill>
            </a:endParaRPr>
          </a:p>
        </p:txBody>
      </p:sp>
      <p:sp>
        <p:nvSpPr>
          <p:cNvPr id="190" name="Google Shape;190;p14"/>
          <p:cNvSpPr txBox="1"/>
          <p:nvPr/>
        </p:nvSpPr>
        <p:spPr>
          <a:xfrm>
            <a:off x="8102600" y="4686300"/>
            <a:ext cx="635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565C0"/>
                </a:solidFill>
              </a:rPr>
              <a:t>16 hrs</a:t>
            </a:r>
            <a:endParaRPr sz="700">
              <a:solidFill>
                <a:srgbClr val="1565C0"/>
              </a:solidFill>
            </a:endParaRPr>
          </a:p>
        </p:txBody>
      </p:sp>
      <p:pic>
        <p:nvPicPr>
          <p:cNvPr id="191" name="Google Shape;191;p14"/>
          <p:cNvPicPr preferRelativeResize="0"/>
          <p:nvPr/>
        </p:nvPicPr>
        <p:blipFill>
          <a:blip r:embed="rId33">
            <a:alphaModFix/>
          </a:blip>
          <a:stretch>
            <a:fillRect/>
          </a:stretch>
        </p:blipFill>
        <p:spPr>
          <a:xfrm>
            <a:off x="298450" y="4902200"/>
            <a:ext cx="635000" cy="19685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4"/>
          <p:cNvSpPr txBox="1"/>
          <p:nvPr/>
        </p:nvSpPr>
        <p:spPr>
          <a:xfrm>
            <a:off x="7137400" y="4927600"/>
            <a:ext cx="16509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595959"/>
                </a:solidFill>
              </a:rPr>
              <a:t>Professional Services</a:t>
            </a:r>
            <a:endParaRPr sz="75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5"/>
          <p:cNvSpPr txBox="1"/>
          <p:nvPr/>
        </p:nvSpPr>
        <p:spPr>
          <a:xfrm>
            <a:off x="355600" y="127000"/>
            <a:ext cx="84327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A1A2E"/>
                </a:solidFill>
              </a:rPr>
              <a:t>Projects by Owner &amp; Tier</a:t>
            </a:r>
            <a:endParaRPr b="1" sz="1800">
              <a:solidFill>
                <a:srgbClr val="1A1A2E"/>
              </a:solidFill>
            </a:endParaRPr>
          </a:p>
        </p:txBody>
      </p:sp>
      <p:sp>
        <p:nvSpPr>
          <p:cNvPr id="198" name="Google Shape;198;p15"/>
          <p:cNvSpPr txBox="1"/>
          <p:nvPr/>
        </p:nvSpPr>
        <p:spPr>
          <a:xfrm>
            <a:off x="355600" y="558800"/>
            <a:ext cx="84327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595959"/>
                </a:solidFill>
              </a:rPr>
              <a:t>June 30, 2026  •  Excludes Sophi Operations</a:t>
            </a:r>
            <a:endParaRPr sz="900">
              <a:solidFill>
                <a:srgbClr val="595959"/>
              </a:solidFill>
            </a:endParaRPr>
          </a:p>
        </p:txBody>
      </p:sp>
      <p:sp>
        <p:nvSpPr>
          <p:cNvPr id="199" name="Google Shape;199;p15"/>
          <p:cNvSpPr/>
          <p:nvPr/>
        </p:nvSpPr>
        <p:spPr>
          <a:xfrm>
            <a:off x="0" y="787400"/>
            <a:ext cx="9144000" cy="25500"/>
          </a:xfrm>
          <a:prstGeom prst="rect">
            <a:avLst/>
          </a:prstGeom>
          <a:solidFill>
            <a:srgbClr val="FF44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00" name="Google Shape;200;p15"/>
          <p:cNvGraphicFramePr/>
          <p:nvPr/>
        </p:nvGraphicFramePr>
        <p:xfrm>
          <a:off x="355600" y="863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{3D8B96A2-3C30-4B28-BB31-7C91F461DA06}</a:tableStyleId>
              </a:tblPr>
              <a:tblGrid>
                <a:gridCol w="1405475"/>
                <a:gridCol w="1405475"/>
                <a:gridCol w="1405475"/>
                <a:gridCol w="1405475"/>
                <a:gridCol w="1405475"/>
                <a:gridCol w="1405475"/>
              </a:tblGrid>
              <a:tr h="25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>
                          <a:solidFill>
                            <a:srgbClr val="FFFFFF"/>
                          </a:solidFill>
                        </a:rPr>
                        <a:t>Owner</a:t>
                      </a:r>
                      <a:endParaRPr b="1" sz="75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44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>
                          <a:solidFill>
                            <a:srgbClr val="FFFFFF"/>
                          </a:solidFill>
                        </a:rPr>
                        <a:t>Tier 1</a:t>
                      </a:r>
                      <a:endParaRPr b="1" sz="75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44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>
                          <a:solidFill>
                            <a:srgbClr val="FFFFFF"/>
                          </a:solidFill>
                        </a:rPr>
                        <a:t>Tier 2</a:t>
                      </a:r>
                      <a:endParaRPr b="1" sz="75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44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>
                          <a:solidFill>
                            <a:srgbClr val="FFFFFF"/>
                          </a:solidFill>
                        </a:rPr>
                        <a:t>Tier 3</a:t>
                      </a:r>
                      <a:endParaRPr b="1" sz="75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44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>
                          <a:solidFill>
                            <a:srgbClr val="FFFFFF"/>
                          </a:solidFill>
                        </a:rPr>
                        <a:t>Tier 4</a:t>
                      </a:r>
                      <a:endParaRPr b="1" sz="75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44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>
                          <a:solidFill>
                            <a:srgbClr val="FFFFFF"/>
                          </a:solidFill>
                        </a:rPr>
                        <a:t>Total</a:t>
                      </a:r>
                      <a:endParaRPr b="1" sz="75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4438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2E"/>
                          </a:solidFill>
                        </a:rPr>
                        <a:t>Akshay Chopra</a:t>
                      </a:r>
                      <a:endParaRPr sz="900">
                        <a:solidFill>
                          <a:srgbClr val="1A1A2E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2E"/>
                          </a:solidFill>
                        </a:rPr>
                        <a:t>1</a:t>
                      </a:r>
                      <a:endParaRPr sz="900">
                        <a:solidFill>
                          <a:srgbClr val="1A1A2E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2E"/>
                          </a:solidFill>
                        </a:rPr>
                        <a:t>8</a:t>
                      </a:r>
                      <a:endParaRPr sz="900">
                        <a:solidFill>
                          <a:srgbClr val="1A1A2E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2E"/>
                          </a:solidFill>
                        </a:rPr>
                        <a:t>9</a:t>
                      </a:r>
                      <a:endParaRPr sz="900">
                        <a:solidFill>
                          <a:srgbClr val="1A1A2E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2E"/>
                          </a:solidFill>
                        </a:rPr>
                        <a:t>19</a:t>
                      </a:r>
                      <a:endParaRPr sz="900">
                        <a:solidFill>
                          <a:srgbClr val="1A1A2E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2E"/>
                          </a:solidFill>
                        </a:rPr>
                        <a:t>37</a:t>
                      </a:r>
                      <a:endParaRPr sz="900">
                        <a:solidFill>
                          <a:srgbClr val="1A1A2E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5F5F5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2E"/>
                          </a:solidFill>
                        </a:rPr>
                        <a:t>Varsha Malhotra</a:t>
                      </a:r>
                      <a:endParaRPr sz="900">
                        <a:solidFill>
                          <a:srgbClr val="1A1A2E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2E"/>
                          </a:solidFill>
                        </a:rPr>
                        <a:t>0</a:t>
                      </a:r>
                      <a:endParaRPr sz="900">
                        <a:solidFill>
                          <a:srgbClr val="1A1A2E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2E"/>
                          </a:solidFill>
                        </a:rPr>
                        <a:t>1</a:t>
                      </a:r>
                      <a:endParaRPr sz="900">
                        <a:solidFill>
                          <a:srgbClr val="1A1A2E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2E"/>
                          </a:solidFill>
                        </a:rPr>
                        <a:t>5</a:t>
                      </a:r>
                      <a:endParaRPr sz="900">
                        <a:solidFill>
                          <a:srgbClr val="1A1A2E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2E"/>
                          </a:solidFill>
                        </a:rPr>
                        <a:t>29</a:t>
                      </a:r>
                      <a:endParaRPr sz="900">
                        <a:solidFill>
                          <a:srgbClr val="1A1A2E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2E"/>
                          </a:solidFill>
                        </a:rPr>
                        <a:t>35</a:t>
                      </a:r>
                      <a:endParaRPr sz="900">
                        <a:solidFill>
                          <a:srgbClr val="1A1A2E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EBEBEB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2E"/>
                          </a:solidFill>
                        </a:rPr>
                        <a:t>Gloriana Diaz</a:t>
                      </a:r>
                      <a:endParaRPr sz="900">
                        <a:solidFill>
                          <a:srgbClr val="1A1A2E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2E"/>
                          </a:solidFill>
                        </a:rPr>
                        <a:t>0</a:t>
                      </a:r>
                      <a:endParaRPr sz="900">
                        <a:solidFill>
                          <a:srgbClr val="1A1A2E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2E"/>
                          </a:solidFill>
                        </a:rPr>
                        <a:t>4</a:t>
                      </a:r>
                      <a:endParaRPr sz="900">
                        <a:solidFill>
                          <a:srgbClr val="1A1A2E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2E"/>
                          </a:solidFill>
                        </a:rPr>
                        <a:t>10</a:t>
                      </a:r>
                      <a:endParaRPr sz="900">
                        <a:solidFill>
                          <a:srgbClr val="1A1A2E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2E"/>
                          </a:solidFill>
                        </a:rPr>
                        <a:t>17</a:t>
                      </a:r>
                      <a:endParaRPr sz="900">
                        <a:solidFill>
                          <a:srgbClr val="1A1A2E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2E"/>
                          </a:solidFill>
                        </a:rPr>
                        <a:t>31</a:t>
                      </a:r>
                      <a:endParaRPr sz="900">
                        <a:solidFill>
                          <a:srgbClr val="1A1A2E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5F5F5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2E"/>
                          </a:solidFill>
                        </a:rPr>
                        <a:t>Kent Johnson</a:t>
                      </a:r>
                      <a:endParaRPr sz="900">
                        <a:solidFill>
                          <a:srgbClr val="1A1A2E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2E"/>
                          </a:solidFill>
                        </a:rPr>
                        <a:t>0</a:t>
                      </a:r>
                      <a:endParaRPr sz="900">
                        <a:solidFill>
                          <a:srgbClr val="1A1A2E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2E"/>
                          </a:solidFill>
                        </a:rPr>
                        <a:t>11</a:t>
                      </a:r>
                      <a:endParaRPr sz="900">
                        <a:solidFill>
                          <a:srgbClr val="1A1A2E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2E"/>
                          </a:solidFill>
                        </a:rPr>
                        <a:t>12</a:t>
                      </a:r>
                      <a:endParaRPr sz="900">
                        <a:solidFill>
                          <a:srgbClr val="1A1A2E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2E"/>
                          </a:solidFill>
                        </a:rPr>
                        <a:t>6</a:t>
                      </a:r>
                      <a:endParaRPr sz="900">
                        <a:solidFill>
                          <a:srgbClr val="1A1A2E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2E"/>
                          </a:solidFill>
                        </a:rPr>
                        <a:t>29</a:t>
                      </a:r>
                      <a:endParaRPr sz="900">
                        <a:solidFill>
                          <a:srgbClr val="1A1A2E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EBEBEB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2E"/>
                          </a:solidFill>
                        </a:rPr>
                        <a:t>Nadia Droubi</a:t>
                      </a:r>
                      <a:endParaRPr sz="900">
                        <a:solidFill>
                          <a:srgbClr val="1A1A2E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2E"/>
                          </a:solidFill>
                        </a:rPr>
                        <a:t>1</a:t>
                      </a:r>
                      <a:endParaRPr sz="900">
                        <a:solidFill>
                          <a:srgbClr val="1A1A2E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2E"/>
                          </a:solidFill>
                        </a:rPr>
                        <a:t>12</a:t>
                      </a:r>
                      <a:endParaRPr sz="900">
                        <a:solidFill>
                          <a:srgbClr val="1A1A2E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2E"/>
                          </a:solidFill>
                        </a:rPr>
                        <a:t>9</a:t>
                      </a:r>
                      <a:endParaRPr sz="900">
                        <a:solidFill>
                          <a:srgbClr val="1A1A2E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2E"/>
                          </a:solidFill>
                        </a:rPr>
                        <a:t>5</a:t>
                      </a:r>
                      <a:endParaRPr sz="900">
                        <a:solidFill>
                          <a:srgbClr val="1A1A2E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2E"/>
                          </a:solidFill>
                        </a:rPr>
                        <a:t>27</a:t>
                      </a:r>
                      <a:endParaRPr sz="900">
                        <a:solidFill>
                          <a:srgbClr val="1A1A2E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5F5F5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2E"/>
                          </a:solidFill>
                        </a:rPr>
                        <a:t>Sirisha Yaddanapudi</a:t>
                      </a:r>
                      <a:endParaRPr sz="900">
                        <a:solidFill>
                          <a:srgbClr val="1A1A2E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2E"/>
                          </a:solidFill>
                        </a:rPr>
                        <a:t>0</a:t>
                      </a:r>
                      <a:endParaRPr sz="900">
                        <a:solidFill>
                          <a:srgbClr val="1A1A2E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2E"/>
                          </a:solidFill>
                        </a:rPr>
                        <a:t>10</a:t>
                      </a:r>
                      <a:endParaRPr sz="900">
                        <a:solidFill>
                          <a:srgbClr val="1A1A2E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2E"/>
                          </a:solidFill>
                        </a:rPr>
                        <a:t>12</a:t>
                      </a:r>
                      <a:endParaRPr sz="900">
                        <a:solidFill>
                          <a:srgbClr val="1A1A2E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2E"/>
                          </a:solidFill>
                        </a:rPr>
                        <a:t>5</a:t>
                      </a:r>
                      <a:endParaRPr sz="900">
                        <a:solidFill>
                          <a:srgbClr val="1A1A2E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2E"/>
                          </a:solidFill>
                        </a:rPr>
                        <a:t>27</a:t>
                      </a:r>
                      <a:endParaRPr sz="900">
                        <a:solidFill>
                          <a:srgbClr val="1A1A2E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EBEBEB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2E"/>
                          </a:solidFill>
                        </a:rPr>
                        <a:t>Anil Kondapaneni</a:t>
                      </a:r>
                      <a:endParaRPr sz="900">
                        <a:solidFill>
                          <a:srgbClr val="1A1A2E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2E"/>
                          </a:solidFill>
                        </a:rPr>
                        <a:t>2</a:t>
                      </a:r>
                      <a:endParaRPr sz="900">
                        <a:solidFill>
                          <a:srgbClr val="1A1A2E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2E"/>
                          </a:solidFill>
                        </a:rPr>
                        <a:t>7</a:t>
                      </a:r>
                      <a:endParaRPr sz="900">
                        <a:solidFill>
                          <a:srgbClr val="1A1A2E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2E"/>
                          </a:solidFill>
                        </a:rPr>
                        <a:t>1</a:t>
                      </a:r>
                      <a:endParaRPr sz="900">
                        <a:solidFill>
                          <a:srgbClr val="1A1A2E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2E"/>
                          </a:solidFill>
                        </a:rPr>
                        <a:t>3</a:t>
                      </a:r>
                      <a:endParaRPr sz="900">
                        <a:solidFill>
                          <a:srgbClr val="1A1A2E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2E"/>
                          </a:solidFill>
                        </a:rPr>
                        <a:t>13</a:t>
                      </a:r>
                      <a:endParaRPr sz="900">
                        <a:solidFill>
                          <a:srgbClr val="1A1A2E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5F5F5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2E"/>
                          </a:solidFill>
                        </a:rPr>
                        <a:t>Camille Dubois</a:t>
                      </a:r>
                      <a:endParaRPr sz="900">
                        <a:solidFill>
                          <a:srgbClr val="1A1A2E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2E"/>
                          </a:solidFill>
                        </a:rPr>
                        <a:t>0</a:t>
                      </a:r>
                      <a:endParaRPr sz="900">
                        <a:solidFill>
                          <a:srgbClr val="1A1A2E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2E"/>
                          </a:solidFill>
                        </a:rPr>
                        <a:t>1</a:t>
                      </a:r>
                      <a:endParaRPr sz="900">
                        <a:solidFill>
                          <a:srgbClr val="1A1A2E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2E"/>
                          </a:solidFill>
                        </a:rPr>
                        <a:t>5</a:t>
                      </a:r>
                      <a:endParaRPr sz="900">
                        <a:solidFill>
                          <a:srgbClr val="1A1A2E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2E"/>
                          </a:solidFill>
                        </a:rPr>
                        <a:t>4</a:t>
                      </a:r>
                      <a:endParaRPr sz="900">
                        <a:solidFill>
                          <a:srgbClr val="1A1A2E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2E"/>
                          </a:solidFill>
                        </a:rPr>
                        <a:t>10</a:t>
                      </a:r>
                      <a:endParaRPr sz="900">
                        <a:solidFill>
                          <a:srgbClr val="1A1A2E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EBEBEB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2E"/>
                          </a:solidFill>
                        </a:rPr>
                        <a:t>Sophi Operations</a:t>
                      </a:r>
                      <a:endParaRPr sz="900">
                        <a:solidFill>
                          <a:srgbClr val="1A1A2E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2E"/>
                          </a:solidFill>
                        </a:rPr>
                        <a:t>0</a:t>
                      </a:r>
                      <a:endParaRPr sz="900">
                        <a:solidFill>
                          <a:srgbClr val="1A1A2E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2E"/>
                          </a:solidFill>
                        </a:rPr>
                        <a:t>1</a:t>
                      </a:r>
                      <a:endParaRPr sz="900">
                        <a:solidFill>
                          <a:srgbClr val="1A1A2E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2E"/>
                          </a:solidFill>
                        </a:rPr>
                        <a:t>2</a:t>
                      </a:r>
                      <a:endParaRPr sz="900">
                        <a:solidFill>
                          <a:srgbClr val="1A1A2E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2E"/>
                          </a:solidFill>
                        </a:rPr>
                        <a:t>7</a:t>
                      </a:r>
                      <a:endParaRPr sz="900">
                        <a:solidFill>
                          <a:srgbClr val="1A1A2E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2E"/>
                          </a:solidFill>
                        </a:rPr>
                        <a:t>10</a:t>
                      </a:r>
                      <a:endParaRPr sz="900">
                        <a:solidFill>
                          <a:srgbClr val="1A1A2E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5F5F5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2E"/>
                          </a:solidFill>
                        </a:rPr>
                        <a:t>TOTAL</a:t>
                      </a:r>
                      <a:endParaRPr sz="900">
                        <a:solidFill>
                          <a:srgbClr val="1A1A2E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2E"/>
                          </a:solidFill>
                        </a:rPr>
                        <a:t>4</a:t>
                      </a:r>
                      <a:endParaRPr sz="900">
                        <a:solidFill>
                          <a:srgbClr val="1A1A2E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2E"/>
                          </a:solidFill>
                        </a:rPr>
                        <a:t>55</a:t>
                      </a:r>
                      <a:endParaRPr sz="900">
                        <a:solidFill>
                          <a:srgbClr val="1A1A2E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2E"/>
                          </a:solidFill>
                        </a:rPr>
                        <a:t>65</a:t>
                      </a:r>
                      <a:endParaRPr sz="900">
                        <a:solidFill>
                          <a:srgbClr val="1A1A2E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2E"/>
                          </a:solidFill>
                        </a:rPr>
                        <a:t>95</a:t>
                      </a:r>
                      <a:endParaRPr sz="900">
                        <a:solidFill>
                          <a:srgbClr val="1A1A2E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2E"/>
                          </a:solidFill>
                        </a:rPr>
                        <a:t>219</a:t>
                      </a:r>
                      <a:endParaRPr sz="900">
                        <a:solidFill>
                          <a:srgbClr val="1A1A2E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EBEBEB"/>
                    </a:solidFill>
                  </a:tcPr>
                </a:tc>
              </a:tr>
            </a:tbl>
          </a:graphicData>
        </a:graphic>
      </p:graphicFrame>
      <p:pic>
        <p:nvPicPr>
          <p:cNvPr id="201" name="Google Shape;20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450" y="4902200"/>
            <a:ext cx="635000" cy="19685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5"/>
          <p:cNvSpPr txBox="1"/>
          <p:nvPr/>
        </p:nvSpPr>
        <p:spPr>
          <a:xfrm>
            <a:off x="7137400" y="4927600"/>
            <a:ext cx="16509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595959"/>
                </a:solidFill>
              </a:rPr>
              <a:t>Professional Services</a:t>
            </a:r>
            <a:endParaRPr sz="75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6"/>
          <p:cNvSpPr txBox="1"/>
          <p:nvPr/>
        </p:nvSpPr>
        <p:spPr>
          <a:xfrm>
            <a:off x="355600" y="127000"/>
            <a:ext cx="84327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A1A2E"/>
                </a:solidFill>
              </a:rPr>
              <a:t>Go Live Summary</a:t>
            </a:r>
            <a:endParaRPr b="1" sz="1800">
              <a:solidFill>
                <a:srgbClr val="1A1A2E"/>
              </a:solidFill>
            </a:endParaRPr>
          </a:p>
        </p:txBody>
      </p:sp>
      <p:sp>
        <p:nvSpPr>
          <p:cNvPr id="208" name="Google Shape;208;p16"/>
          <p:cNvSpPr txBox="1"/>
          <p:nvPr/>
        </p:nvSpPr>
        <p:spPr>
          <a:xfrm>
            <a:off x="355600" y="558800"/>
            <a:ext cx="84327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595959"/>
                </a:solidFill>
              </a:rPr>
              <a:t>June 30, 2026</a:t>
            </a:r>
            <a:endParaRPr sz="900">
              <a:solidFill>
                <a:srgbClr val="595959"/>
              </a:solidFill>
            </a:endParaRPr>
          </a:p>
        </p:txBody>
      </p:sp>
      <p:sp>
        <p:nvSpPr>
          <p:cNvPr id="209" name="Google Shape;209;p16"/>
          <p:cNvSpPr/>
          <p:nvPr/>
        </p:nvSpPr>
        <p:spPr>
          <a:xfrm>
            <a:off x="0" y="787400"/>
            <a:ext cx="9144000" cy="25500"/>
          </a:xfrm>
          <a:prstGeom prst="rect">
            <a:avLst/>
          </a:prstGeom>
          <a:solidFill>
            <a:srgbClr val="FF44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0" name="Google Shape;21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5600" y="1388627"/>
            <a:ext cx="8432796" cy="223924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1" name="Google Shape;211;p16"/>
          <p:cNvCxnSpPr/>
          <p:nvPr/>
        </p:nvCxnSpPr>
        <p:spPr>
          <a:xfrm>
            <a:off x="355600" y="4254500"/>
            <a:ext cx="8432700" cy="0"/>
          </a:xfrm>
          <a:prstGeom prst="straightConnector1">
            <a:avLst/>
          </a:prstGeom>
          <a:noFill/>
          <a:ln cap="flat" cmpd="sng" w="12700">
            <a:solidFill>
              <a:srgbClr val="FF4438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12" name="Google Shape;212;p16"/>
          <p:cNvSpPr txBox="1"/>
          <p:nvPr/>
        </p:nvSpPr>
        <p:spPr>
          <a:xfrm>
            <a:off x="355600" y="4318000"/>
            <a:ext cx="84327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595959"/>
                </a:solidFill>
              </a:rPr>
              <a:t>1:</a:t>
            </a:r>
            <a:endParaRPr sz="9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595959"/>
                </a:solidFill>
              </a:rPr>
              <a:t>2:</a:t>
            </a:r>
            <a:endParaRPr sz="9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595959"/>
                </a:solidFill>
              </a:rPr>
              <a:t>3:</a:t>
            </a:r>
            <a:endParaRPr sz="900">
              <a:solidFill>
                <a:srgbClr val="595959"/>
              </a:solidFill>
            </a:endParaRPr>
          </a:p>
        </p:txBody>
      </p:sp>
      <p:pic>
        <p:nvPicPr>
          <p:cNvPr id="213" name="Google Shape;21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8450" y="4902200"/>
            <a:ext cx="635000" cy="19685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6"/>
          <p:cNvSpPr txBox="1"/>
          <p:nvPr/>
        </p:nvSpPr>
        <p:spPr>
          <a:xfrm>
            <a:off x="7137400" y="4927600"/>
            <a:ext cx="16509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595959"/>
                </a:solidFill>
              </a:rPr>
              <a:t>Professional Services</a:t>
            </a:r>
            <a:endParaRPr sz="75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7"/>
          <p:cNvSpPr txBox="1"/>
          <p:nvPr/>
        </p:nvSpPr>
        <p:spPr>
          <a:xfrm>
            <a:off x="355600" y="127000"/>
            <a:ext cx="84327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A1A2E"/>
                </a:solidFill>
              </a:rPr>
              <a:t>Annual Plan &amp; RE Summary</a:t>
            </a:r>
            <a:endParaRPr b="1" sz="1800">
              <a:solidFill>
                <a:srgbClr val="1A1A2E"/>
              </a:solidFill>
            </a:endParaRPr>
          </a:p>
        </p:txBody>
      </p:sp>
      <p:sp>
        <p:nvSpPr>
          <p:cNvPr id="220" name="Google Shape;220;p17"/>
          <p:cNvSpPr txBox="1"/>
          <p:nvPr/>
        </p:nvSpPr>
        <p:spPr>
          <a:xfrm>
            <a:off x="355600" y="558800"/>
            <a:ext cx="84327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595959"/>
                </a:solidFill>
              </a:rPr>
              <a:t>Project count by region and utilization ratio</a:t>
            </a:r>
            <a:endParaRPr sz="900">
              <a:solidFill>
                <a:srgbClr val="595959"/>
              </a:solidFill>
            </a:endParaRPr>
          </a:p>
        </p:txBody>
      </p:sp>
      <p:sp>
        <p:nvSpPr>
          <p:cNvPr id="221" name="Google Shape;221;p17"/>
          <p:cNvSpPr/>
          <p:nvPr/>
        </p:nvSpPr>
        <p:spPr>
          <a:xfrm>
            <a:off x="0" y="787400"/>
            <a:ext cx="9144000" cy="25500"/>
          </a:xfrm>
          <a:prstGeom prst="rect">
            <a:avLst/>
          </a:prstGeom>
          <a:solidFill>
            <a:srgbClr val="FF44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22" name="Google Shape;222;p17"/>
          <p:cNvGraphicFramePr/>
          <p:nvPr/>
        </p:nvGraphicFramePr>
        <p:xfrm>
          <a:off x="355600" y="863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{3D8B96A2-3C30-4B28-BB31-7C91F461DA06}</a:tableStyleId>
              </a:tblPr>
              <a:tblGrid>
                <a:gridCol w="1686550"/>
                <a:gridCol w="1686550"/>
                <a:gridCol w="1686550"/>
                <a:gridCol w="1686550"/>
                <a:gridCol w="1686550"/>
              </a:tblGrid>
              <a:tr h="482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</a:rPr>
                        <a:t>Region</a:t>
                      </a:r>
                      <a:endParaRPr b="1" sz="11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44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</a:rPr>
                        <a:t>&lt;50%</a:t>
                      </a:r>
                      <a:endParaRPr b="1" sz="11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44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</a:rPr>
                        <a:t>50–89%</a:t>
                      </a:r>
                      <a:endParaRPr b="1" sz="11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44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</a:rPr>
                        <a:t>≥90%</a:t>
                      </a:r>
                      <a:endParaRPr b="1" sz="11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44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</a:rPr>
                        <a:t>Total</a:t>
                      </a:r>
                      <a:endParaRPr b="1" sz="11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4438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A1A2E"/>
                          </a:solidFill>
                        </a:rPr>
                        <a:t>AMER</a:t>
                      </a:r>
                      <a:endParaRPr sz="1200">
                        <a:solidFill>
                          <a:srgbClr val="1A1A2E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1A1A2E"/>
                          </a:solidFill>
                        </a:rPr>
                        <a:t>5</a:t>
                      </a:r>
                      <a:endParaRPr b="1">
                        <a:solidFill>
                          <a:srgbClr val="1A1A2E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1A1A2E"/>
                          </a:solidFill>
                        </a:rPr>
                        <a:t>6</a:t>
                      </a:r>
                      <a:endParaRPr b="1">
                        <a:solidFill>
                          <a:srgbClr val="1A1A2E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1A1A2E"/>
                          </a:solidFill>
                        </a:rPr>
                        <a:t>8</a:t>
                      </a:r>
                      <a:endParaRPr b="1">
                        <a:solidFill>
                          <a:srgbClr val="1A1A2E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1A1A2E"/>
                          </a:solidFill>
                        </a:rPr>
                        <a:t>19</a:t>
                      </a:r>
                      <a:endParaRPr b="1">
                        <a:solidFill>
                          <a:srgbClr val="1A1A2E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5F5F5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A1A2E"/>
                          </a:solidFill>
                        </a:rPr>
                        <a:t>APAC</a:t>
                      </a:r>
                      <a:endParaRPr sz="1200">
                        <a:solidFill>
                          <a:srgbClr val="1A1A2E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1A1A2E"/>
                          </a:solidFill>
                        </a:rPr>
                        <a:t>2</a:t>
                      </a:r>
                      <a:endParaRPr b="1">
                        <a:solidFill>
                          <a:srgbClr val="1A1A2E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1A1A2E"/>
                          </a:solidFill>
                        </a:rPr>
                        <a:t>3</a:t>
                      </a:r>
                      <a:endParaRPr b="1">
                        <a:solidFill>
                          <a:srgbClr val="1A1A2E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1A1A2E"/>
                          </a:solidFill>
                        </a:rPr>
                        <a:t>0</a:t>
                      </a:r>
                      <a:endParaRPr b="1">
                        <a:solidFill>
                          <a:srgbClr val="1A1A2E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1A1A2E"/>
                          </a:solidFill>
                        </a:rPr>
                        <a:t>5</a:t>
                      </a:r>
                      <a:endParaRPr b="1">
                        <a:solidFill>
                          <a:srgbClr val="1A1A2E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EBEBEB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A1A2E"/>
                          </a:solidFill>
                        </a:rPr>
                        <a:t>EMEA</a:t>
                      </a:r>
                      <a:endParaRPr sz="1200">
                        <a:solidFill>
                          <a:srgbClr val="1A1A2E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1A1A2E"/>
                          </a:solidFill>
                        </a:rPr>
                        <a:t>3</a:t>
                      </a:r>
                      <a:endParaRPr b="1">
                        <a:solidFill>
                          <a:srgbClr val="1A1A2E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1A1A2E"/>
                          </a:solidFill>
                        </a:rPr>
                        <a:t>2</a:t>
                      </a:r>
                      <a:endParaRPr b="1">
                        <a:solidFill>
                          <a:srgbClr val="1A1A2E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1A1A2E"/>
                          </a:solidFill>
                        </a:rPr>
                        <a:t>3</a:t>
                      </a:r>
                      <a:endParaRPr b="1">
                        <a:solidFill>
                          <a:srgbClr val="1A1A2E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1A1A2E"/>
                          </a:solidFill>
                        </a:rPr>
                        <a:t>8</a:t>
                      </a:r>
                      <a:endParaRPr b="1">
                        <a:solidFill>
                          <a:srgbClr val="1A1A2E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5F5F5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A1A2E"/>
                          </a:solidFill>
                        </a:rPr>
                        <a:t>TOTAL</a:t>
                      </a:r>
                      <a:endParaRPr sz="1200">
                        <a:solidFill>
                          <a:srgbClr val="1A1A2E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1A1A2E"/>
                          </a:solidFill>
                        </a:rPr>
                        <a:t>10</a:t>
                      </a:r>
                      <a:endParaRPr b="1">
                        <a:solidFill>
                          <a:srgbClr val="1A1A2E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1A1A2E"/>
                          </a:solidFill>
                        </a:rPr>
                        <a:t>11</a:t>
                      </a:r>
                      <a:endParaRPr b="1">
                        <a:solidFill>
                          <a:srgbClr val="1A1A2E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1A1A2E"/>
                          </a:solidFill>
                        </a:rPr>
                        <a:t>11</a:t>
                      </a:r>
                      <a:endParaRPr b="1">
                        <a:solidFill>
                          <a:srgbClr val="1A1A2E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1A1A2E"/>
                          </a:solidFill>
                        </a:rPr>
                        <a:t>32</a:t>
                      </a:r>
                      <a:endParaRPr b="1">
                        <a:solidFill>
                          <a:srgbClr val="1A1A2E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EBEBEB"/>
                    </a:solidFill>
                  </a:tcPr>
                </a:tc>
              </a:tr>
            </a:tbl>
          </a:graphicData>
        </a:graphic>
      </p:graphicFrame>
      <p:cxnSp>
        <p:nvCxnSpPr>
          <p:cNvPr id="223" name="Google Shape;223;p17"/>
          <p:cNvCxnSpPr/>
          <p:nvPr/>
        </p:nvCxnSpPr>
        <p:spPr>
          <a:xfrm>
            <a:off x="355600" y="4254500"/>
            <a:ext cx="8432700" cy="0"/>
          </a:xfrm>
          <a:prstGeom prst="straightConnector1">
            <a:avLst/>
          </a:prstGeom>
          <a:noFill/>
          <a:ln cap="flat" cmpd="sng" w="12700">
            <a:solidFill>
              <a:srgbClr val="FF4438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24" name="Google Shape;224;p17"/>
          <p:cNvSpPr txBox="1"/>
          <p:nvPr/>
        </p:nvSpPr>
        <p:spPr>
          <a:xfrm>
            <a:off x="355600" y="4318000"/>
            <a:ext cx="84327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595959"/>
                </a:solidFill>
              </a:rPr>
              <a:t>1:</a:t>
            </a:r>
            <a:endParaRPr sz="9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595959"/>
                </a:solidFill>
              </a:rPr>
              <a:t>2:</a:t>
            </a:r>
            <a:endParaRPr sz="9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595959"/>
                </a:solidFill>
              </a:rPr>
              <a:t>3:</a:t>
            </a:r>
            <a:endParaRPr sz="900">
              <a:solidFill>
                <a:srgbClr val="595959"/>
              </a:solidFill>
            </a:endParaRPr>
          </a:p>
        </p:txBody>
      </p:sp>
      <p:pic>
        <p:nvPicPr>
          <p:cNvPr id="225" name="Google Shape;22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450" y="4902200"/>
            <a:ext cx="635000" cy="19685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7"/>
          <p:cNvSpPr txBox="1"/>
          <p:nvPr/>
        </p:nvSpPr>
        <p:spPr>
          <a:xfrm>
            <a:off x="7137400" y="4927600"/>
            <a:ext cx="16509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595959"/>
                </a:solidFill>
              </a:rPr>
              <a:t>Professional Services</a:t>
            </a:r>
            <a:endParaRPr sz="75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8"/>
          <p:cNvSpPr txBox="1"/>
          <p:nvPr/>
        </p:nvSpPr>
        <p:spPr>
          <a:xfrm>
            <a:off x="355600" y="127000"/>
            <a:ext cx="84327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A1A2E"/>
                </a:solidFill>
              </a:rPr>
              <a:t>Annual Plan &amp; RE  —  Under 75% Utilization</a:t>
            </a:r>
            <a:endParaRPr b="1" sz="1800">
              <a:solidFill>
                <a:srgbClr val="1A1A2E"/>
              </a:solidFill>
            </a:endParaRPr>
          </a:p>
        </p:txBody>
      </p:sp>
      <p:sp>
        <p:nvSpPr>
          <p:cNvPr id="232" name="Google Shape;232;p18"/>
          <p:cNvSpPr txBox="1"/>
          <p:nvPr/>
        </p:nvSpPr>
        <p:spPr>
          <a:xfrm>
            <a:off x="355600" y="558800"/>
            <a:ext cx="84327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595959"/>
                </a:solidFill>
              </a:rPr>
              <a:t>June 30, 2026</a:t>
            </a:r>
            <a:endParaRPr sz="900">
              <a:solidFill>
                <a:srgbClr val="595959"/>
              </a:solidFill>
            </a:endParaRPr>
          </a:p>
        </p:txBody>
      </p:sp>
      <p:sp>
        <p:nvSpPr>
          <p:cNvPr id="233" name="Google Shape;233;p18"/>
          <p:cNvSpPr/>
          <p:nvPr/>
        </p:nvSpPr>
        <p:spPr>
          <a:xfrm>
            <a:off x="0" y="787400"/>
            <a:ext cx="9144000" cy="25500"/>
          </a:xfrm>
          <a:prstGeom prst="rect">
            <a:avLst/>
          </a:prstGeom>
          <a:solidFill>
            <a:srgbClr val="FF44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4" name="Google Shape;23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4656" y="863600"/>
            <a:ext cx="7754693" cy="328930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5" name="Google Shape;235;p18"/>
          <p:cNvCxnSpPr/>
          <p:nvPr/>
        </p:nvCxnSpPr>
        <p:spPr>
          <a:xfrm>
            <a:off x="355600" y="4254500"/>
            <a:ext cx="8432700" cy="0"/>
          </a:xfrm>
          <a:prstGeom prst="straightConnector1">
            <a:avLst/>
          </a:prstGeom>
          <a:noFill/>
          <a:ln cap="flat" cmpd="sng" w="12700">
            <a:solidFill>
              <a:srgbClr val="FF4438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36" name="Google Shape;236;p18"/>
          <p:cNvSpPr txBox="1"/>
          <p:nvPr/>
        </p:nvSpPr>
        <p:spPr>
          <a:xfrm>
            <a:off x="355600" y="4318000"/>
            <a:ext cx="84327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595959"/>
                </a:solidFill>
              </a:rPr>
              <a:t>1:</a:t>
            </a:r>
            <a:endParaRPr sz="9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595959"/>
                </a:solidFill>
              </a:rPr>
              <a:t>2:</a:t>
            </a:r>
            <a:endParaRPr sz="9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595959"/>
                </a:solidFill>
              </a:rPr>
              <a:t>3:</a:t>
            </a:r>
            <a:endParaRPr sz="900">
              <a:solidFill>
                <a:srgbClr val="595959"/>
              </a:solidFill>
            </a:endParaRPr>
          </a:p>
        </p:txBody>
      </p:sp>
      <p:pic>
        <p:nvPicPr>
          <p:cNvPr id="237" name="Google Shape;23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8450" y="4902200"/>
            <a:ext cx="635000" cy="1968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8"/>
          <p:cNvSpPr txBox="1"/>
          <p:nvPr/>
        </p:nvSpPr>
        <p:spPr>
          <a:xfrm>
            <a:off x="7137400" y="4927600"/>
            <a:ext cx="16509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595959"/>
                </a:solidFill>
              </a:rPr>
              <a:t>Professional Services</a:t>
            </a:r>
            <a:endParaRPr sz="75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9"/>
          <p:cNvSpPr txBox="1"/>
          <p:nvPr/>
        </p:nvSpPr>
        <p:spPr>
          <a:xfrm>
            <a:off x="355600" y="127000"/>
            <a:ext cx="84327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A1A2E"/>
                </a:solidFill>
              </a:rPr>
              <a:t>Utilization by Resource  —  Under 60% Billable</a:t>
            </a:r>
            <a:endParaRPr b="1" sz="1800">
              <a:solidFill>
                <a:srgbClr val="1A1A2E"/>
              </a:solidFill>
            </a:endParaRPr>
          </a:p>
        </p:txBody>
      </p:sp>
      <p:sp>
        <p:nvSpPr>
          <p:cNvPr id="244" name="Google Shape;244;p19"/>
          <p:cNvSpPr txBox="1"/>
          <p:nvPr/>
        </p:nvSpPr>
        <p:spPr>
          <a:xfrm>
            <a:off x="355600" y="558800"/>
            <a:ext cx="84327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595959"/>
                </a:solidFill>
              </a:rPr>
              <a:t>Q2-2027</a:t>
            </a:r>
            <a:endParaRPr sz="900">
              <a:solidFill>
                <a:srgbClr val="595959"/>
              </a:solidFill>
            </a:endParaRPr>
          </a:p>
        </p:txBody>
      </p:sp>
      <p:sp>
        <p:nvSpPr>
          <p:cNvPr id="245" name="Google Shape;245;p19"/>
          <p:cNvSpPr/>
          <p:nvPr/>
        </p:nvSpPr>
        <p:spPr>
          <a:xfrm>
            <a:off x="0" y="787400"/>
            <a:ext cx="9144000" cy="25500"/>
          </a:xfrm>
          <a:prstGeom prst="rect">
            <a:avLst/>
          </a:prstGeom>
          <a:solidFill>
            <a:srgbClr val="FF44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9"/>
          <p:cNvSpPr/>
          <p:nvPr/>
        </p:nvSpPr>
        <p:spPr>
          <a:xfrm>
            <a:off x="355600" y="885803"/>
            <a:ext cx="2755800" cy="78750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9"/>
          <p:cNvSpPr/>
          <p:nvPr/>
        </p:nvSpPr>
        <p:spPr>
          <a:xfrm>
            <a:off x="355600" y="885803"/>
            <a:ext cx="38100" cy="787500"/>
          </a:xfrm>
          <a:prstGeom prst="rect">
            <a:avLst/>
          </a:prstGeom>
          <a:solidFill>
            <a:srgbClr val="FF44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9"/>
          <p:cNvSpPr txBox="1"/>
          <p:nvPr/>
        </p:nvSpPr>
        <p:spPr>
          <a:xfrm>
            <a:off x="457200" y="892952"/>
            <a:ext cx="26034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50">
                <a:solidFill>
                  <a:srgbClr val="595959"/>
                </a:solidFill>
              </a:rPr>
              <a:t>APAC</a:t>
            </a:r>
            <a:endParaRPr b="1" sz="650">
              <a:solidFill>
                <a:srgbClr val="595959"/>
              </a:solidFill>
            </a:endParaRPr>
          </a:p>
        </p:txBody>
      </p:sp>
      <p:sp>
        <p:nvSpPr>
          <p:cNvPr id="249" name="Google Shape;249;p19"/>
          <p:cNvSpPr txBox="1"/>
          <p:nvPr/>
        </p:nvSpPr>
        <p:spPr>
          <a:xfrm>
            <a:off x="457200" y="1019952"/>
            <a:ext cx="26034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AAAAAA"/>
                </a:solidFill>
              </a:rPr>
              <a:t>6 resources</a:t>
            </a:r>
            <a:endParaRPr sz="600">
              <a:solidFill>
                <a:srgbClr val="AAAAAA"/>
              </a:solidFill>
            </a:endParaRPr>
          </a:p>
        </p:txBody>
      </p:sp>
      <p:sp>
        <p:nvSpPr>
          <p:cNvPr id="250" name="Google Shape;250;p19"/>
          <p:cNvSpPr txBox="1"/>
          <p:nvPr/>
        </p:nvSpPr>
        <p:spPr>
          <a:xfrm>
            <a:off x="457200" y="1203303"/>
            <a:ext cx="12447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50">
                <a:solidFill>
                  <a:srgbClr val="AAAAAA"/>
                </a:solidFill>
              </a:rPr>
              <a:t>BILLABLE UTIL</a:t>
            </a:r>
            <a:endParaRPr sz="550">
              <a:solidFill>
                <a:srgbClr val="AAAAAA"/>
              </a:solidFill>
            </a:endParaRPr>
          </a:p>
        </p:txBody>
      </p:sp>
      <p:sp>
        <p:nvSpPr>
          <p:cNvPr id="251" name="Google Shape;251;p19"/>
          <p:cNvSpPr txBox="1"/>
          <p:nvPr/>
        </p:nvSpPr>
        <p:spPr>
          <a:xfrm>
            <a:off x="457200" y="1304903"/>
            <a:ext cx="12447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4438"/>
                </a:solidFill>
              </a:rPr>
              <a:t>59%</a:t>
            </a:r>
            <a:endParaRPr b="1" sz="1700">
              <a:solidFill>
                <a:srgbClr val="FF4438"/>
              </a:solidFill>
            </a:endParaRPr>
          </a:p>
        </p:txBody>
      </p:sp>
      <p:sp>
        <p:nvSpPr>
          <p:cNvPr id="252" name="Google Shape;252;p19"/>
          <p:cNvSpPr txBox="1"/>
          <p:nvPr/>
        </p:nvSpPr>
        <p:spPr>
          <a:xfrm>
            <a:off x="1752600" y="1203303"/>
            <a:ext cx="12447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50">
                <a:solidFill>
                  <a:srgbClr val="AAAAAA"/>
                </a:solidFill>
              </a:rPr>
              <a:t>PTO ADJ UTIL</a:t>
            </a:r>
            <a:endParaRPr sz="550">
              <a:solidFill>
                <a:srgbClr val="AAAAAA"/>
              </a:solidFill>
            </a:endParaRPr>
          </a:p>
        </p:txBody>
      </p:sp>
      <p:sp>
        <p:nvSpPr>
          <p:cNvPr id="253" name="Google Shape;253;p19"/>
          <p:cNvSpPr txBox="1"/>
          <p:nvPr/>
        </p:nvSpPr>
        <p:spPr>
          <a:xfrm>
            <a:off x="1752600" y="1304903"/>
            <a:ext cx="12447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C27C0E"/>
                </a:solidFill>
              </a:rPr>
              <a:t>67%</a:t>
            </a:r>
            <a:endParaRPr b="1" sz="1700">
              <a:solidFill>
                <a:srgbClr val="C27C0E"/>
              </a:solidFill>
            </a:endParaRPr>
          </a:p>
        </p:txBody>
      </p:sp>
      <p:sp>
        <p:nvSpPr>
          <p:cNvPr id="254" name="Google Shape;254;p19"/>
          <p:cNvSpPr/>
          <p:nvPr/>
        </p:nvSpPr>
        <p:spPr>
          <a:xfrm>
            <a:off x="3187700" y="885803"/>
            <a:ext cx="2755800" cy="78750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9"/>
          <p:cNvSpPr/>
          <p:nvPr/>
        </p:nvSpPr>
        <p:spPr>
          <a:xfrm>
            <a:off x="3187700" y="885803"/>
            <a:ext cx="38100" cy="787500"/>
          </a:xfrm>
          <a:prstGeom prst="rect">
            <a:avLst/>
          </a:prstGeom>
          <a:solidFill>
            <a:srgbClr val="FF44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9"/>
          <p:cNvSpPr txBox="1"/>
          <p:nvPr/>
        </p:nvSpPr>
        <p:spPr>
          <a:xfrm>
            <a:off x="3289300" y="892952"/>
            <a:ext cx="26034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50">
                <a:solidFill>
                  <a:srgbClr val="595959"/>
                </a:solidFill>
              </a:rPr>
              <a:t>EMEA</a:t>
            </a:r>
            <a:endParaRPr b="1" sz="650">
              <a:solidFill>
                <a:srgbClr val="595959"/>
              </a:solidFill>
            </a:endParaRPr>
          </a:p>
        </p:txBody>
      </p:sp>
      <p:sp>
        <p:nvSpPr>
          <p:cNvPr id="257" name="Google Shape;257;p19"/>
          <p:cNvSpPr txBox="1"/>
          <p:nvPr/>
        </p:nvSpPr>
        <p:spPr>
          <a:xfrm>
            <a:off x="3289300" y="1019952"/>
            <a:ext cx="26034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AAAAAA"/>
                </a:solidFill>
              </a:rPr>
              <a:t>5 resources</a:t>
            </a:r>
            <a:endParaRPr sz="600">
              <a:solidFill>
                <a:srgbClr val="AAAAAA"/>
              </a:solidFill>
            </a:endParaRPr>
          </a:p>
        </p:txBody>
      </p:sp>
      <p:sp>
        <p:nvSpPr>
          <p:cNvPr id="258" name="Google Shape;258;p19"/>
          <p:cNvSpPr txBox="1"/>
          <p:nvPr/>
        </p:nvSpPr>
        <p:spPr>
          <a:xfrm>
            <a:off x="3289300" y="1203303"/>
            <a:ext cx="12447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50">
                <a:solidFill>
                  <a:srgbClr val="AAAAAA"/>
                </a:solidFill>
              </a:rPr>
              <a:t>BILLABLE UTIL</a:t>
            </a:r>
            <a:endParaRPr sz="550">
              <a:solidFill>
                <a:srgbClr val="AAAAAA"/>
              </a:solidFill>
            </a:endParaRPr>
          </a:p>
        </p:txBody>
      </p:sp>
      <p:sp>
        <p:nvSpPr>
          <p:cNvPr id="259" name="Google Shape;259;p19"/>
          <p:cNvSpPr txBox="1"/>
          <p:nvPr/>
        </p:nvSpPr>
        <p:spPr>
          <a:xfrm>
            <a:off x="3289300" y="1304903"/>
            <a:ext cx="12447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4438"/>
                </a:solidFill>
              </a:rPr>
              <a:t>57%</a:t>
            </a:r>
            <a:endParaRPr b="1" sz="1700">
              <a:solidFill>
                <a:srgbClr val="FF4438"/>
              </a:solidFill>
            </a:endParaRPr>
          </a:p>
        </p:txBody>
      </p:sp>
      <p:sp>
        <p:nvSpPr>
          <p:cNvPr id="260" name="Google Shape;260;p19"/>
          <p:cNvSpPr txBox="1"/>
          <p:nvPr/>
        </p:nvSpPr>
        <p:spPr>
          <a:xfrm>
            <a:off x="4584700" y="1203303"/>
            <a:ext cx="12447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50">
                <a:solidFill>
                  <a:srgbClr val="AAAAAA"/>
                </a:solidFill>
              </a:rPr>
              <a:t>PTO ADJ UTIL</a:t>
            </a:r>
            <a:endParaRPr sz="550">
              <a:solidFill>
                <a:srgbClr val="AAAAAA"/>
              </a:solidFill>
            </a:endParaRPr>
          </a:p>
        </p:txBody>
      </p:sp>
      <p:sp>
        <p:nvSpPr>
          <p:cNvPr id="261" name="Google Shape;261;p19"/>
          <p:cNvSpPr txBox="1"/>
          <p:nvPr/>
        </p:nvSpPr>
        <p:spPr>
          <a:xfrm>
            <a:off x="4584700" y="1304903"/>
            <a:ext cx="12447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C27C0E"/>
                </a:solidFill>
              </a:rPr>
              <a:t>67%</a:t>
            </a:r>
            <a:endParaRPr b="1" sz="1700">
              <a:solidFill>
                <a:srgbClr val="C27C0E"/>
              </a:solidFill>
            </a:endParaRPr>
          </a:p>
        </p:txBody>
      </p:sp>
      <p:sp>
        <p:nvSpPr>
          <p:cNvPr id="262" name="Google Shape;262;p19"/>
          <p:cNvSpPr/>
          <p:nvPr/>
        </p:nvSpPr>
        <p:spPr>
          <a:xfrm>
            <a:off x="6019800" y="885803"/>
            <a:ext cx="2755800" cy="78750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9"/>
          <p:cNvSpPr/>
          <p:nvPr/>
        </p:nvSpPr>
        <p:spPr>
          <a:xfrm>
            <a:off x="6019800" y="885803"/>
            <a:ext cx="38100" cy="787500"/>
          </a:xfrm>
          <a:prstGeom prst="rect">
            <a:avLst/>
          </a:prstGeom>
          <a:solidFill>
            <a:srgbClr val="FF44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9"/>
          <p:cNvSpPr txBox="1"/>
          <p:nvPr/>
        </p:nvSpPr>
        <p:spPr>
          <a:xfrm>
            <a:off x="6121400" y="892952"/>
            <a:ext cx="26034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50">
                <a:solidFill>
                  <a:srgbClr val="595959"/>
                </a:solidFill>
              </a:rPr>
              <a:t>NORTH AMERICA</a:t>
            </a:r>
            <a:endParaRPr b="1" sz="650">
              <a:solidFill>
                <a:srgbClr val="595959"/>
              </a:solidFill>
            </a:endParaRPr>
          </a:p>
        </p:txBody>
      </p:sp>
      <p:sp>
        <p:nvSpPr>
          <p:cNvPr id="265" name="Google Shape;265;p19"/>
          <p:cNvSpPr txBox="1"/>
          <p:nvPr/>
        </p:nvSpPr>
        <p:spPr>
          <a:xfrm>
            <a:off x="6121400" y="1019952"/>
            <a:ext cx="26034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AAAAAA"/>
                </a:solidFill>
              </a:rPr>
              <a:t>14 resources</a:t>
            </a:r>
            <a:endParaRPr sz="600">
              <a:solidFill>
                <a:srgbClr val="AAAAAA"/>
              </a:solidFill>
            </a:endParaRPr>
          </a:p>
        </p:txBody>
      </p:sp>
      <p:sp>
        <p:nvSpPr>
          <p:cNvPr id="266" name="Google Shape;266;p19"/>
          <p:cNvSpPr txBox="1"/>
          <p:nvPr/>
        </p:nvSpPr>
        <p:spPr>
          <a:xfrm>
            <a:off x="6121400" y="1203303"/>
            <a:ext cx="12447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50">
                <a:solidFill>
                  <a:srgbClr val="AAAAAA"/>
                </a:solidFill>
              </a:rPr>
              <a:t>BILLABLE UTIL</a:t>
            </a:r>
            <a:endParaRPr sz="550">
              <a:solidFill>
                <a:srgbClr val="AAAAAA"/>
              </a:solidFill>
            </a:endParaRPr>
          </a:p>
        </p:txBody>
      </p:sp>
      <p:sp>
        <p:nvSpPr>
          <p:cNvPr id="267" name="Google Shape;267;p19"/>
          <p:cNvSpPr txBox="1"/>
          <p:nvPr/>
        </p:nvSpPr>
        <p:spPr>
          <a:xfrm>
            <a:off x="6121400" y="1304903"/>
            <a:ext cx="12447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C27C0E"/>
                </a:solidFill>
              </a:rPr>
              <a:t>62%</a:t>
            </a:r>
            <a:endParaRPr b="1" sz="1700">
              <a:solidFill>
                <a:srgbClr val="C27C0E"/>
              </a:solidFill>
            </a:endParaRPr>
          </a:p>
        </p:txBody>
      </p:sp>
      <p:sp>
        <p:nvSpPr>
          <p:cNvPr id="268" name="Google Shape;268;p19"/>
          <p:cNvSpPr txBox="1"/>
          <p:nvPr/>
        </p:nvSpPr>
        <p:spPr>
          <a:xfrm>
            <a:off x="7416800" y="1203303"/>
            <a:ext cx="12447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50">
                <a:solidFill>
                  <a:srgbClr val="AAAAAA"/>
                </a:solidFill>
              </a:rPr>
              <a:t>PTO ADJ UTIL</a:t>
            </a:r>
            <a:endParaRPr sz="550">
              <a:solidFill>
                <a:srgbClr val="AAAAAA"/>
              </a:solidFill>
            </a:endParaRPr>
          </a:p>
        </p:txBody>
      </p:sp>
      <p:sp>
        <p:nvSpPr>
          <p:cNvPr id="269" name="Google Shape;269;p19"/>
          <p:cNvSpPr txBox="1"/>
          <p:nvPr/>
        </p:nvSpPr>
        <p:spPr>
          <a:xfrm>
            <a:off x="7416800" y="1304903"/>
            <a:ext cx="12447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C27C0E"/>
                </a:solidFill>
              </a:rPr>
              <a:t>71%</a:t>
            </a:r>
            <a:endParaRPr b="1" sz="1700">
              <a:solidFill>
                <a:srgbClr val="C27C0E"/>
              </a:solidFill>
            </a:endParaRPr>
          </a:p>
        </p:txBody>
      </p:sp>
      <p:pic>
        <p:nvPicPr>
          <p:cNvPr id="270" name="Google Shape;27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0935" y="1825603"/>
            <a:ext cx="7842126" cy="25018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1" name="Google Shape;271;p19"/>
          <p:cNvCxnSpPr/>
          <p:nvPr/>
        </p:nvCxnSpPr>
        <p:spPr>
          <a:xfrm>
            <a:off x="355600" y="4363627"/>
            <a:ext cx="8432700" cy="0"/>
          </a:xfrm>
          <a:prstGeom prst="straightConnector1">
            <a:avLst/>
          </a:prstGeom>
          <a:noFill/>
          <a:ln cap="flat" cmpd="sng" w="12700">
            <a:solidFill>
              <a:srgbClr val="FF4438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72" name="Google Shape;272;p19"/>
          <p:cNvSpPr txBox="1"/>
          <p:nvPr/>
        </p:nvSpPr>
        <p:spPr>
          <a:xfrm>
            <a:off x="355600" y="4427127"/>
            <a:ext cx="84327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595959"/>
                </a:solidFill>
              </a:rPr>
              <a:t>1:</a:t>
            </a:r>
            <a:endParaRPr sz="9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595959"/>
                </a:solidFill>
              </a:rPr>
              <a:t>2:</a:t>
            </a:r>
            <a:endParaRPr sz="9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595959"/>
                </a:solidFill>
              </a:rPr>
              <a:t>3:</a:t>
            </a:r>
            <a:endParaRPr sz="900">
              <a:solidFill>
                <a:srgbClr val="595959"/>
              </a:solidFill>
            </a:endParaRPr>
          </a:p>
        </p:txBody>
      </p:sp>
      <p:pic>
        <p:nvPicPr>
          <p:cNvPr id="273" name="Google Shape;27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8450" y="4902200"/>
            <a:ext cx="635000" cy="19685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19"/>
          <p:cNvSpPr txBox="1"/>
          <p:nvPr/>
        </p:nvSpPr>
        <p:spPr>
          <a:xfrm>
            <a:off x="7137400" y="4927600"/>
            <a:ext cx="16509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595959"/>
                </a:solidFill>
              </a:rPr>
              <a:t>Professional Services</a:t>
            </a:r>
            <a:endParaRPr sz="75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0"/>
          <p:cNvSpPr txBox="1"/>
          <p:nvPr/>
        </p:nvSpPr>
        <p:spPr>
          <a:xfrm>
            <a:off x="355600" y="127000"/>
            <a:ext cx="84327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A1A2E"/>
                </a:solidFill>
              </a:rPr>
              <a:t>Quarterly Bookings Forecast</a:t>
            </a:r>
            <a:endParaRPr b="1" sz="1800">
              <a:solidFill>
                <a:srgbClr val="1A1A2E"/>
              </a:solidFill>
            </a:endParaRPr>
          </a:p>
        </p:txBody>
      </p:sp>
      <p:sp>
        <p:nvSpPr>
          <p:cNvPr id="280" name="Google Shape;280;p20"/>
          <p:cNvSpPr txBox="1"/>
          <p:nvPr/>
        </p:nvSpPr>
        <p:spPr>
          <a:xfrm>
            <a:off x="355600" y="558800"/>
            <a:ext cx="84327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595959"/>
                </a:solidFill>
              </a:rPr>
              <a:t>FY2027</a:t>
            </a:r>
            <a:endParaRPr sz="900">
              <a:solidFill>
                <a:srgbClr val="595959"/>
              </a:solidFill>
            </a:endParaRPr>
          </a:p>
        </p:txBody>
      </p:sp>
      <p:sp>
        <p:nvSpPr>
          <p:cNvPr id="281" name="Google Shape;281;p20"/>
          <p:cNvSpPr/>
          <p:nvPr/>
        </p:nvSpPr>
        <p:spPr>
          <a:xfrm>
            <a:off x="0" y="787400"/>
            <a:ext cx="9144000" cy="25500"/>
          </a:xfrm>
          <a:prstGeom prst="rect">
            <a:avLst/>
          </a:prstGeom>
          <a:solidFill>
            <a:srgbClr val="FF44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2" name="Google Shape;28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5600" y="1463190"/>
            <a:ext cx="8432798" cy="209011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3" name="Google Shape;283;p20"/>
          <p:cNvCxnSpPr/>
          <p:nvPr/>
        </p:nvCxnSpPr>
        <p:spPr>
          <a:xfrm>
            <a:off x="355600" y="4254500"/>
            <a:ext cx="8432700" cy="0"/>
          </a:xfrm>
          <a:prstGeom prst="straightConnector1">
            <a:avLst/>
          </a:prstGeom>
          <a:noFill/>
          <a:ln cap="flat" cmpd="sng" w="12700">
            <a:solidFill>
              <a:srgbClr val="FF4438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84" name="Google Shape;284;p20"/>
          <p:cNvSpPr txBox="1"/>
          <p:nvPr/>
        </p:nvSpPr>
        <p:spPr>
          <a:xfrm>
            <a:off x="355600" y="4318000"/>
            <a:ext cx="84327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595959"/>
                </a:solidFill>
              </a:rPr>
              <a:t>1:</a:t>
            </a:r>
            <a:endParaRPr sz="9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595959"/>
                </a:solidFill>
              </a:rPr>
              <a:t>2:</a:t>
            </a:r>
            <a:endParaRPr sz="9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595959"/>
                </a:solidFill>
              </a:rPr>
              <a:t>3:</a:t>
            </a:r>
            <a:endParaRPr sz="900">
              <a:solidFill>
                <a:srgbClr val="595959"/>
              </a:solidFill>
            </a:endParaRPr>
          </a:p>
        </p:txBody>
      </p:sp>
      <p:pic>
        <p:nvPicPr>
          <p:cNvPr id="285" name="Google Shape;28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8450" y="4902200"/>
            <a:ext cx="635000" cy="19685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0"/>
          <p:cNvSpPr txBox="1"/>
          <p:nvPr/>
        </p:nvSpPr>
        <p:spPr>
          <a:xfrm>
            <a:off x="7137400" y="4927600"/>
            <a:ext cx="16509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595959"/>
                </a:solidFill>
              </a:rPr>
              <a:t>Professional Services</a:t>
            </a:r>
            <a:endParaRPr sz="75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1"/>
          <p:cNvSpPr txBox="1"/>
          <p:nvPr/>
        </p:nvSpPr>
        <p:spPr>
          <a:xfrm>
            <a:off x="355600" y="127000"/>
            <a:ext cx="84327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A1A2E"/>
                </a:solidFill>
              </a:rPr>
              <a:t>Backlog Analysis</a:t>
            </a:r>
            <a:endParaRPr b="1" sz="1800">
              <a:solidFill>
                <a:srgbClr val="1A1A2E"/>
              </a:solidFill>
            </a:endParaRPr>
          </a:p>
        </p:txBody>
      </p:sp>
      <p:sp>
        <p:nvSpPr>
          <p:cNvPr id="292" name="Google Shape;292;p21"/>
          <p:cNvSpPr txBox="1"/>
          <p:nvPr/>
        </p:nvSpPr>
        <p:spPr>
          <a:xfrm>
            <a:off x="355600" y="558800"/>
            <a:ext cx="84327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595959"/>
                </a:solidFill>
              </a:rPr>
              <a:t>FY2027</a:t>
            </a:r>
            <a:endParaRPr sz="900">
              <a:solidFill>
                <a:srgbClr val="595959"/>
              </a:solidFill>
            </a:endParaRPr>
          </a:p>
        </p:txBody>
      </p:sp>
      <p:sp>
        <p:nvSpPr>
          <p:cNvPr id="293" name="Google Shape;293;p21"/>
          <p:cNvSpPr/>
          <p:nvPr/>
        </p:nvSpPr>
        <p:spPr>
          <a:xfrm>
            <a:off x="0" y="787400"/>
            <a:ext cx="9144000" cy="25500"/>
          </a:xfrm>
          <a:prstGeom prst="rect">
            <a:avLst/>
          </a:prstGeom>
          <a:solidFill>
            <a:srgbClr val="FF44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4" name="Google Shape;29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750" y="1284263"/>
            <a:ext cx="8788397" cy="25623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5" name="Google Shape;295;p21"/>
          <p:cNvCxnSpPr/>
          <p:nvPr/>
        </p:nvCxnSpPr>
        <p:spPr>
          <a:xfrm>
            <a:off x="355600" y="4254500"/>
            <a:ext cx="8432700" cy="0"/>
          </a:xfrm>
          <a:prstGeom prst="straightConnector1">
            <a:avLst/>
          </a:prstGeom>
          <a:noFill/>
          <a:ln cap="flat" cmpd="sng" w="12700">
            <a:solidFill>
              <a:srgbClr val="FF4438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96" name="Google Shape;296;p21"/>
          <p:cNvSpPr txBox="1"/>
          <p:nvPr/>
        </p:nvSpPr>
        <p:spPr>
          <a:xfrm>
            <a:off x="355600" y="4318000"/>
            <a:ext cx="84327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595959"/>
                </a:solidFill>
              </a:rPr>
              <a:t>1:</a:t>
            </a:r>
            <a:endParaRPr sz="9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595959"/>
                </a:solidFill>
              </a:rPr>
              <a:t>2:</a:t>
            </a:r>
            <a:endParaRPr sz="9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595959"/>
                </a:solidFill>
              </a:rPr>
              <a:t>3:</a:t>
            </a:r>
            <a:endParaRPr sz="900">
              <a:solidFill>
                <a:srgbClr val="595959"/>
              </a:solidFill>
            </a:endParaRPr>
          </a:p>
        </p:txBody>
      </p:sp>
      <p:pic>
        <p:nvPicPr>
          <p:cNvPr id="297" name="Google Shape;29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8450" y="4902200"/>
            <a:ext cx="635000" cy="19685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1"/>
          <p:cNvSpPr txBox="1"/>
          <p:nvPr/>
        </p:nvSpPr>
        <p:spPr>
          <a:xfrm>
            <a:off x="7137400" y="4927600"/>
            <a:ext cx="16509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595959"/>
                </a:solidFill>
              </a:rPr>
              <a:t>Professional Services</a:t>
            </a:r>
            <a:endParaRPr sz="75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2"/>
          <p:cNvSpPr txBox="1"/>
          <p:nvPr/>
        </p:nvSpPr>
        <p:spPr>
          <a:xfrm>
            <a:off x="355600" y="127000"/>
            <a:ext cx="84327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A1A2E"/>
                </a:solidFill>
              </a:rPr>
              <a:t>P&amp;L Status</a:t>
            </a:r>
            <a:endParaRPr b="1" sz="1800">
              <a:solidFill>
                <a:srgbClr val="1A1A2E"/>
              </a:solidFill>
            </a:endParaRPr>
          </a:p>
        </p:txBody>
      </p:sp>
      <p:sp>
        <p:nvSpPr>
          <p:cNvPr id="304" name="Google Shape;304;p22"/>
          <p:cNvSpPr txBox="1"/>
          <p:nvPr/>
        </p:nvSpPr>
        <p:spPr>
          <a:xfrm>
            <a:off x="355600" y="558800"/>
            <a:ext cx="84327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595959"/>
                </a:solidFill>
              </a:rPr>
              <a:t>June 30, 2026</a:t>
            </a:r>
            <a:endParaRPr sz="900">
              <a:solidFill>
                <a:srgbClr val="595959"/>
              </a:solidFill>
            </a:endParaRPr>
          </a:p>
        </p:txBody>
      </p:sp>
      <p:sp>
        <p:nvSpPr>
          <p:cNvPr id="305" name="Google Shape;305;p22"/>
          <p:cNvSpPr/>
          <p:nvPr/>
        </p:nvSpPr>
        <p:spPr>
          <a:xfrm>
            <a:off x="0" y="787400"/>
            <a:ext cx="9144000" cy="25500"/>
          </a:xfrm>
          <a:prstGeom prst="rect">
            <a:avLst/>
          </a:prstGeom>
          <a:solidFill>
            <a:srgbClr val="FF44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2"/>
          <p:cNvSpPr/>
          <p:nvPr/>
        </p:nvSpPr>
        <p:spPr>
          <a:xfrm>
            <a:off x="355600" y="939800"/>
            <a:ext cx="8432700" cy="3187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AAAAAA"/>
                </a:solidFill>
              </a:rPr>
              <a:t>[ Paste P&amp;L screenshot here ]</a:t>
            </a:r>
            <a:endParaRPr i="1">
              <a:solidFill>
                <a:srgbClr val="AAAAAA"/>
              </a:solidFill>
            </a:endParaRPr>
          </a:p>
        </p:txBody>
      </p:sp>
      <p:cxnSp>
        <p:nvCxnSpPr>
          <p:cNvPr id="307" name="Google Shape;307;p22"/>
          <p:cNvCxnSpPr/>
          <p:nvPr/>
        </p:nvCxnSpPr>
        <p:spPr>
          <a:xfrm>
            <a:off x="355600" y="4254500"/>
            <a:ext cx="8432700" cy="0"/>
          </a:xfrm>
          <a:prstGeom prst="straightConnector1">
            <a:avLst/>
          </a:prstGeom>
          <a:noFill/>
          <a:ln cap="flat" cmpd="sng" w="12700">
            <a:solidFill>
              <a:srgbClr val="FF4438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308" name="Google Shape;308;p22"/>
          <p:cNvSpPr txBox="1"/>
          <p:nvPr/>
        </p:nvSpPr>
        <p:spPr>
          <a:xfrm>
            <a:off x="355600" y="4318000"/>
            <a:ext cx="84327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595959"/>
                </a:solidFill>
              </a:rPr>
              <a:t>1:</a:t>
            </a:r>
            <a:endParaRPr sz="9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595959"/>
                </a:solidFill>
              </a:rPr>
              <a:t>2:</a:t>
            </a:r>
            <a:endParaRPr sz="9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595959"/>
                </a:solidFill>
              </a:rPr>
              <a:t>3:</a:t>
            </a:r>
            <a:endParaRPr sz="900">
              <a:solidFill>
                <a:srgbClr val="595959"/>
              </a:solidFill>
            </a:endParaRPr>
          </a:p>
        </p:txBody>
      </p:sp>
      <p:pic>
        <p:nvPicPr>
          <p:cNvPr id="309" name="Google Shape;30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450" y="4902200"/>
            <a:ext cx="635000" cy="19685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2"/>
          <p:cNvSpPr txBox="1"/>
          <p:nvPr/>
        </p:nvSpPr>
        <p:spPr>
          <a:xfrm>
            <a:off x="7137400" y="4927600"/>
            <a:ext cx="16509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595959"/>
                </a:solidFill>
              </a:rPr>
              <a:t>Professional Services</a:t>
            </a:r>
            <a:endParaRPr sz="75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